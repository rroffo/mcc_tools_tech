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62" r:id="rId3"/>
    <p:sldId id="264" r:id="rId4"/>
    <p:sldId id="266" r:id="rId5"/>
    <p:sldId id="268" r:id="rId6"/>
    <p:sldId id="270" r:id="rId7"/>
    <p:sldId id="273" r:id="rId8"/>
    <p:sldId id="274" r:id="rId9"/>
    <p:sldId id="260" r:id="rId10"/>
    <p:sldId id="275" r:id="rId11"/>
    <p:sldId id="272" r:id="rId12"/>
  </p:sldIdLst>
  <p:sldSz cx="17881600" cy="13411200"/>
  <p:notesSz cx="7004050" cy="929005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94C"/>
    <a:srgbClr val="0766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171" autoAdjust="0"/>
    <p:restoredTop sz="94193" autoAdjust="0"/>
  </p:normalViewPr>
  <p:slideViewPr>
    <p:cSldViewPr>
      <p:cViewPr varScale="1">
        <p:scale>
          <a:sx n="29" d="100"/>
          <a:sy n="29" d="100"/>
        </p:scale>
        <p:origin x="62" y="3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299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27C0E1-3B44-4042-BDF7-01959A227350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</dgm:pt>
    <dgm:pt modelId="{BB7A7EE2-2FD9-4C05-A1DD-F070575B168D}">
      <dgm:prSet phldrT="[Text]" custT="1"/>
      <dgm:spPr/>
      <dgm:t>
        <a:bodyPr/>
        <a:lstStyle/>
        <a:p>
          <a:r>
            <a:rPr lang="en-US" sz="54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My </a:t>
          </a:r>
        </a:p>
        <a:p>
          <a:r>
            <a:rPr lang="en-US" sz="54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Most &amp; Least Favorite </a:t>
          </a:r>
        </a:p>
        <a:p>
          <a:r>
            <a:rPr lang="en-US" sz="54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Content Authoring Tools</a:t>
          </a:r>
        </a:p>
        <a:p>
          <a:r>
            <a:rPr lang="en-US" sz="39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 </a:t>
          </a:r>
        </a:p>
        <a:p>
          <a:r>
            <a:rPr lang="en-US" sz="39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Roberta Roffo</a:t>
          </a:r>
        </a:p>
        <a:p>
          <a:r>
            <a:rPr lang="en-US" sz="39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Technical Writing</a:t>
          </a:r>
        </a:p>
        <a:p>
          <a:r>
            <a:rPr lang="en-US" sz="39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May 2025</a:t>
          </a:r>
        </a:p>
      </dgm:t>
    </dgm:pt>
    <dgm:pt modelId="{520EDA3D-D986-4373-AA93-D873E60604F0}" type="parTrans" cxnId="{AD8B65B5-CB46-4F7E-A131-6F19BE09FCD3}">
      <dgm:prSet/>
      <dgm:spPr/>
      <dgm:t>
        <a:bodyPr/>
        <a:lstStyle/>
        <a:p>
          <a:endParaRPr lang="en-US"/>
        </a:p>
      </dgm:t>
    </dgm:pt>
    <dgm:pt modelId="{0DEC9671-2D30-4067-BC3C-CFB1C527A2CF}" type="sibTrans" cxnId="{AD8B65B5-CB46-4F7E-A131-6F19BE09FCD3}">
      <dgm:prSet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eople at work">
            <a:extLst>
              <a:ext uri="{FF2B5EF4-FFF2-40B4-BE49-F238E27FC236}">
                <a16:creationId xmlns:a16="http://schemas.microsoft.com/office/drawing/2014/main" id="{6B2F226A-B151-A5F0-01A5-FE006883C13B}"/>
              </a:ext>
            </a:extLst>
          </dgm14:cNvPr>
        </a:ext>
      </dgm:extLst>
    </dgm:pt>
    <dgm:pt modelId="{0A287E7F-7DA1-4490-891F-842910DCBE5F}" type="pres">
      <dgm:prSet presAssocID="{E527C0E1-3B44-4042-BDF7-01959A227350}" presName="Name0" presStyleCnt="0">
        <dgm:presLayoutVars>
          <dgm:chMax val="21"/>
          <dgm:chPref val="21"/>
        </dgm:presLayoutVars>
      </dgm:prSet>
      <dgm:spPr/>
    </dgm:pt>
    <dgm:pt modelId="{9821B652-9AD8-4461-8985-88C382FFC2E2}" type="pres">
      <dgm:prSet presAssocID="{BB7A7EE2-2FD9-4C05-A1DD-F070575B168D}" presName="text1" presStyleCnt="0"/>
      <dgm:spPr/>
    </dgm:pt>
    <dgm:pt modelId="{9D48532F-0887-415F-97FC-5E68DAFE6271}" type="pres">
      <dgm:prSet presAssocID="{BB7A7EE2-2FD9-4C05-A1DD-F070575B168D}" presName="textRepeatNode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8BF239EE-3D9D-4AFB-82CD-B44C7A762DD3}" type="pres">
      <dgm:prSet presAssocID="{BB7A7EE2-2FD9-4C05-A1DD-F070575B168D}" presName="textaccent1" presStyleCnt="0"/>
      <dgm:spPr/>
    </dgm:pt>
    <dgm:pt modelId="{8E646617-BB41-45A0-B6C2-71E76B8FE9E3}" type="pres">
      <dgm:prSet presAssocID="{BB7A7EE2-2FD9-4C05-A1DD-F070575B168D}" presName="accentRepeatNode" presStyleLbl="solidAlignAcc1" presStyleIdx="0" presStyleCnt="2"/>
      <dgm:spPr/>
    </dgm:pt>
    <dgm:pt modelId="{7A08D39F-C810-400B-AEE9-B30D68DABB7C}" type="pres">
      <dgm:prSet presAssocID="{0DEC9671-2D30-4067-BC3C-CFB1C527A2CF}" presName="image1" presStyleCnt="0"/>
      <dgm:spPr/>
    </dgm:pt>
    <dgm:pt modelId="{031064F9-548B-4D2C-AFFD-82D2C5A3DD18}" type="pres">
      <dgm:prSet presAssocID="{0DEC9671-2D30-4067-BC3C-CFB1C527A2CF}" presName="imageRepeatNode" presStyleLbl="alignAcc1" presStyleIdx="0" presStyleCnt="1"/>
      <dgm:spPr/>
    </dgm:pt>
    <dgm:pt modelId="{C7E2A29E-A296-465B-9C48-2F44484A8B6F}" type="pres">
      <dgm:prSet presAssocID="{0DEC9671-2D30-4067-BC3C-CFB1C527A2CF}" presName="imageaccent1" presStyleCnt="0"/>
      <dgm:spPr/>
    </dgm:pt>
    <dgm:pt modelId="{05662691-F804-4C95-9C5D-BAC9E920F514}" type="pres">
      <dgm:prSet presAssocID="{0DEC9671-2D30-4067-BC3C-CFB1C527A2CF}" presName="accentRepeatNode" presStyleLbl="solidAlignAcc1" presStyleIdx="1" presStyleCnt="2"/>
      <dgm:spPr/>
    </dgm:pt>
  </dgm:ptLst>
  <dgm:cxnLst>
    <dgm:cxn modelId="{752E213E-3F8C-4857-A080-100B2239D2A2}" type="presOf" srcId="{0DEC9671-2D30-4067-BC3C-CFB1C527A2CF}" destId="{031064F9-548B-4D2C-AFFD-82D2C5A3DD18}" srcOrd="0" destOrd="0" presId="urn:microsoft.com/office/officeart/2008/layout/HexagonCluster"/>
    <dgm:cxn modelId="{919AC081-041F-42D0-A2F6-A39FA9B57B6B}" type="presOf" srcId="{E527C0E1-3B44-4042-BDF7-01959A227350}" destId="{0A287E7F-7DA1-4490-891F-842910DCBE5F}" srcOrd="0" destOrd="0" presId="urn:microsoft.com/office/officeart/2008/layout/HexagonCluster"/>
    <dgm:cxn modelId="{AD8B65B5-CB46-4F7E-A131-6F19BE09FCD3}" srcId="{E527C0E1-3B44-4042-BDF7-01959A227350}" destId="{BB7A7EE2-2FD9-4C05-A1DD-F070575B168D}" srcOrd="0" destOrd="0" parTransId="{520EDA3D-D986-4373-AA93-D873E60604F0}" sibTransId="{0DEC9671-2D30-4067-BC3C-CFB1C527A2CF}"/>
    <dgm:cxn modelId="{A19683BE-1F94-4A18-BB08-64F0B86AB031}" type="presOf" srcId="{BB7A7EE2-2FD9-4C05-A1DD-F070575B168D}" destId="{9D48532F-0887-415F-97FC-5E68DAFE6271}" srcOrd="0" destOrd="0" presId="urn:microsoft.com/office/officeart/2008/layout/HexagonCluster"/>
    <dgm:cxn modelId="{F125E087-1D53-4A0C-AF1D-7AE5B05930F6}" type="presParOf" srcId="{0A287E7F-7DA1-4490-891F-842910DCBE5F}" destId="{9821B652-9AD8-4461-8985-88C382FFC2E2}" srcOrd="0" destOrd="0" presId="urn:microsoft.com/office/officeart/2008/layout/HexagonCluster"/>
    <dgm:cxn modelId="{4FAA3F0C-E70B-4CA7-9909-520733A0C39F}" type="presParOf" srcId="{9821B652-9AD8-4461-8985-88C382FFC2E2}" destId="{9D48532F-0887-415F-97FC-5E68DAFE6271}" srcOrd="0" destOrd="0" presId="urn:microsoft.com/office/officeart/2008/layout/HexagonCluster"/>
    <dgm:cxn modelId="{343FE10E-F0A6-42E8-A005-DF0D2F3CE826}" type="presParOf" srcId="{0A287E7F-7DA1-4490-891F-842910DCBE5F}" destId="{8BF239EE-3D9D-4AFB-82CD-B44C7A762DD3}" srcOrd="1" destOrd="0" presId="urn:microsoft.com/office/officeart/2008/layout/HexagonCluster"/>
    <dgm:cxn modelId="{F8A04640-C519-4A01-B00D-F36EF3A0D57B}" type="presParOf" srcId="{8BF239EE-3D9D-4AFB-82CD-B44C7A762DD3}" destId="{8E646617-BB41-45A0-B6C2-71E76B8FE9E3}" srcOrd="0" destOrd="0" presId="urn:microsoft.com/office/officeart/2008/layout/HexagonCluster"/>
    <dgm:cxn modelId="{904903A0-5624-407D-A495-9DE0E4357028}" type="presParOf" srcId="{0A287E7F-7DA1-4490-891F-842910DCBE5F}" destId="{7A08D39F-C810-400B-AEE9-B30D68DABB7C}" srcOrd="2" destOrd="0" presId="urn:microsoft.com/office/officeart/2008/layout/HexagonCluster"/>
    <dgm:cxn modelId="{0FF4A0CE-DE95-4916-BB1C-A830B4D5C7C4}" type="presParOf" srcId="{7A08D39F-C810-400B-AEE9-B30D68DABB7C}" destId="{031064F9-548B-4D2C-AFFD-82D2C5A3DD18}" srcOrd="0" destOrd="0" presId="urn:microsoft.com/office/officeart/2008/layout/HexagonCluster"/>
    <dgm:cxn modelId="{DBF80636-E624-4F02-BEB8-58DA22BA1FA2}" type="presParOf" srcId="{0A287E7F-7DA1-4490-891F-842910DCBE5F}" destId="{C7E2A29E-A296-465B-9C48-2F44484A8B6F}" srcOrd="3" destOrd="0" presId="urn:microsoft.com/office/officeart/2008/layout/HexagonCluster"/>
    <dgm:cxn modelId="{56F39719-AEA8-42AA-AF7C-4E36CFFC2451}" type="presParOf" srcId="{C7E2A29E-A296-465B-9C48-2F44484A8B6F}" destId="{05662691-F804-4C95-9C5D-BAC9E920F514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8532F-0887-415F-97FC-5E68DAFE6271}">
      <dsp:nvSpPr>
        <dsp:cNvPr id="0" name=""/>
        <dsp:cNvSpPr/>
      </dsp:nvSpPr>
      <dsp:spPr>
        <a:xfrm>
          <a:off x="8155353" y="4124689"/>
          <a:ext cx="9053302" cy="779637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6858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My 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Most &amp; Least Favorite 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Content Authoring Tools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 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Roberta Roffo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Technical Writing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rgbClr val="002060"/>
              </a:solidFill>
              <a:latin typeface="Amasis MT Pro Black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rPr>
            <a:t>May 2025</a:t>
          </a:r>
        </a:p>
      </dsp:txBody>
      <dsp:txXfrm>
        <a:off x="9559493" y="5333884"/>
        <a:ext cx="6245022" cy="5377987"/>
      </dsp:txXfrm>
    </dsp:sp>
    <dsp:sp modelId="{8E646617-BB41-45A0-B6C2-71E76B8FE9E3}">
      <dsp:nvSpPr>
        <dsp:cNvPr id="0" name=""/>
        <dsp:cNvSpPr/>
      </dsp:nvSpPr>
      <dsp:spPr>
        <a:xfrm>
          <a:off x="8365357" y="7567493"/>
          <a:ext cx="1056631" cy="911961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1064F9-548B-4D2C-AFFD-82D2C5A3DD18}">
      <dsp:nvSpPr>
        <dsp:cNvPr id="0" name=""/>
        <dsp:cNvSpPr/>
      </dsp:nvSpPr>
      <dsp:spPr>
        <a:xfrm>
          <a:off x="672943" y="0"/>
          <a:ext cx="9041727" cy="7793993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62691-F804-4C95-9C5D-BAC9E920F514}">
      <dsp:nvSpPr>
        <dsp:cNvPr id="0" name=""/>
        <dsp:cNvSpPr/>
      </dsp:nvSpPr>
      <dsp:spPr>
        <a:xfrm>
          <a:off x="6794464" y="6715137"/>
          <a:ext cx="1056631" cy="911961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7881600" cy="134112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918209" y="2493382"/>
            <a:ext cx="14045185" cy="8424436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2127911" y="2709063"/>
            <a:ext cx="13625779" cy="7993075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7420864" y="2479116"/>
            <a:ext cx="3039872" cy="1251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7599680" y="2479118"/>
            <a:ext cx="2682240" cy="1072896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0505" y="4089581"/>
            <a:ext cx="13300594" cy="5066453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12125" b="0" kern="1200" cap="all" spc="-196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1080" y="9156032"/>
            <a:ext cx="13303910" cy="983488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738" spc="156" baseline="0">
                <a:solidFill>
                  <a:schemeClr val="tx2">
                    <a:lumMod val="75000"/>
                  </a:schemeClr>
                </a:solidFill>
              </a:defRPr>
            </a:lvl1pPr>
            <a:lvl2pPr marL="894100" indent="0" algn="ctr">
              <a:buNone/>
              <a:defRPr sz="2738"/>
            </a:lvl2pPr>
            <a:lvl3pPr marL="1788201" indent="0" algn="ctr">
              <a:buNone/>
              <a:defRPr sz="2738"/>
            </a:lvl3pPr>
            <a:lvl4pPr marL="2682301" indent="0" algn="ctr">
              <a:buNone/>
              <a:defRPr sz="2738"/>
            </a:lvl4pPr>
            <a:lvl5pPr marL="3576401" indent="0" algn="ctr">
              <a:buNone/>
              <a:defRPr sz="2738"/>
            </a:lvl5pPr>
            <a:lvl6pPr marL="4470502" indent="0" algn="ctr">
              <a:buNone/>
              <a:defRPr sz="2738"/>
            </a:lvl6pPr>
            <a:lvl7pPr marL="5364602" indent="0" algn="ctr">
              <a:buNone/>
              <a:defRPr sz="2738"/>
            </a:lvl7pPr>
            <a:lvl8pPr marL="6258702" indent="0" algn="ctr">
              <a:buNone/>
              <a:defRPr sz="2738"/>
            </a:lvl8pPr>
            <a:lvl9pPr marL="7152803" indent="0" algn="ctr">
              <a:buNone/>
              <a:defRPr sz="273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7689088" y="2595390"/>
            <a:ext cx="2503424" cy="894080"/>
          </a:xfrm>
        </p:spPr>
        <p:txBody>
          <a:bodyPr/>
          <a:lstStyle>
            <a:lvl1pPr algn="ctr">
              <a:defRPr sz="2151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BC926A6B-FF84-4CDA-A864-9F1B329CD545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2160765" y="10190517"/>
            <a:ext cx="8661400" cy="447040"/>
          </a:xfrm>
        </p:spPr>
        <p:txBody>
          <a:bodyPr/>
          <a:lstStyle>
            <a:lvl1pPr algn="l">
              <a:defRPr sz="17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2623484" y="10192512"/>
            <a:ext cx="3097426" cy="44704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4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B133-FD78-4CB3-B3B8-A98C1141DE4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61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7881600" cy="134112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918209" y="2493382"/>
            <a:ext cx="14045185" cy="8424436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2127911" y="2709063"/>
            <a:ext cx="13625779" cy="7993075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7420864" y="2479116"/>
            <a:ext cx="3039872" cy="12517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7599680" y="2479118"/>
            <a:ext cx="2682240" cy="1072896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3313" y="4095538"/>
            <a:ext cx="13303910" cy="5060493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12125" kern="1200" cap="all" spc="-196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93315" y="9156032"/>
            <a:ext cx="13303910" cy="983488"/>
          </a:xfrm>
        </p:spPr>
        <p:txBody>
          <a:bodyPr anchor="t">
            <a:normAutofit/>
          </a:bodyPr>
          <a:lstStyle>
            <a:lvl1pPr marL="0" indent="0" algn="ctr">
              <a:buNone/>
              <a:defRPr sz="2738">
                <a:solidFill>
                  <a:schemeClr val="tx1"/>
                </a:solidFill>
                <a:effectLst/>
              </a:defRPr>
            </a:lvl1pPr>
            <a:lvl2pPr marL="894100" indent="0">
              <a:buNone/>
              <a:defRPr sz="2738">
                <a:solidFill>
                  <a:schemeClr val="tx1">
                    <a:tint val="75000"/>
                  </a:schemeClr>
                </a:solidFill>
              </a:defRPr>
            </a:lvl2pPr>
            <a:lvl3pPr marL="1788201" indent="0">
              <a:buNone/>
              <a:defRPr sz="2738">
                <a:solidFill>
                  <a:schemeClr val="tx1">
                    <a:tint val="75000"/>
                  </a:schemeClr>
                </a:solidFill>
              </a:defRPr>
            </a:lvl3pPr>
            <a:lvl4pPr marL="2682301" indent="0">
              <a:buNone/>
              <a:defRPr sz="2738">
                <a:solidFill>
                  <a:schemeClr val="tx1">
                    <a:tint val="75000"/>
                  </a:schemeClr>
                </a:solidFill>
              </a:defRPr>
            </a:lvl4pPr>
            <a:lvl5pPr marL="3576401" indent="0">
              <a:buNone/>
              <a:defRPr sz="2738">
                <a:solidFill>
                  <a:schemeClr val="tx1">
                    <a:tint val="75000"/>
                  </a:schemeClr>
                </a:solidFill>
              </a:defRPr>
            </a:lvl5pPr>
            <a:lvl6pPr marL="4470502" indent="0">
              <a:buNone/>
              <a:defRPr sz="2738">
                <a:solidFill>
                  <a:schemeClr val="tx1">
                    <a:tint val="75000"/>
                  </a:schemeClr>
                </a:solidFill>
              </a:defRPr>
            </a:lvl6pPr>
            <a:lvl7pPr marL="5364602" indent="0">
              <a:buNone/>
              <a:defRPr sz="2738">
                <a:solidFill>
                  <a:schemeClr val="tx1">
                    <a:tint val="75000"/>
                  </a:schemeClr>
                </a:solidFill>
              </a:defRPr>
            </a:lvl7pPr>
            <a:lvl8pPr marL="6258702" indent="0">
              <a:buNone/>
              <a:defRPr sz="2738">
                <a:solidFill>
                  <a:schemeClr val="tx1">
                    <a:tint val="75000"/>
                  </a:schemeClr>
                </a:solidFill>
              </a:defRPr>
            </a:lvl8pPr>
            <a:lvl9pPr marL="7152803" indent="0">
              <a:buNone/>
              <a:defRPr sz="27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89088" y="2592832"/>
            <a:ext cx="2503424" cy="894080"/>
          </a:xfrm>
        </p:spPr>
        <p:txBody>
          <a:bodyPr/>
          <a:lstStyle>
            <a:lvl1pPr algn="ctr">
              <a:defRPr lang="en-US" sz="2151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F0034A8-484E-4ED5-9411-062F55B9C257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60261" y="10190517"/>
            <a:ext cx="8663635" cy="44704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619939" y="10190517"/>
            <a:ext cx="3097987" cy="447040"/>
          </a:xfrm>
        </p:spPr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5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0528" y="4112768"/>
            <a:ext cx="7152640" cy="7689088"/>
          </a:xfrm>
        </p:spPr>
        <p:txBody>
          <a:bodyPr/>
          <a:lstStyle>
            <a:lvl1pPr>
              <a:defRPr sz="3520"/>
            </a:lvl1pPr>
            <a:lvl2pPr>
              <a:defRPr sz="3129"/>
            </a:lvl2pPr>
            <a:lvl3pPr>
              <a:defRPr sz="2738"/>
            </a:lvl3pPr>
            <a:lvl4pPr>
              <a:defRPr sz="2738"/>
            </a:lvl4pPr>
            <a:lvl5pPr>
              <a:defRPr sz="2738"/>
            </a:lvl5pPr>
            <a:lvl6pPr>
              <a:defRPr sz="2738"/>
            </a:lvl6pPr>
            <a:lvl7pPr>
              <a:defRPr sz="2738"/>
            </a:lvl7pPr>
            <a:lvl8pPr>
              <a:defRPr sz="2738"/>
            </a:lvl8pPr>
            <a:lvl9pPr>
              <a:defRPr sz="27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8432" y="4112768"/>
            <a:ext cx="7152640" cy="7689088"/>
          </a:xfrm>
        </p:spPr>
        <p:txBody>
          <a:bodyPr/>
          <a:lstStyle>
            <a:lvl1pPr>
              <a:defRPr sz="3520"/>
            </a:lvl1pPr>
            <a:lvl2pPr>
              <a:defRPr sz="3129"/>
            </a:lvl2pPr>
            <a:lvl3pPr>
              <a:defRPr sz="2738"/>
            </a:lvl3pPr>
            <a:lvl4pPr>
              <a:defRPr sz="2738"/>
            </a:lvl4pPr>
            <a:lvl5pPr>
              <a:defRPr sz="2738"/>
            </a:lvl5pPr>
            <a:lvl6pPr>
              <a:defRPr sz="2738"/>
            </a:lvl6pPr>
            <a:lvl7pPr>
              <a:defRPr sz="2738"/>
            </a:lvl7pPr>
            <a:lvl8pPr>
              <a:defRPr sz="2738"/>
            </a:lvl8pPr>
            <a:lvl9pPr>
              <a:defRPr sz="27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4D34A-1F56-4299-AD3B-4E46FC110CB7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4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0528" y="4056475"/>
            <a:ext cx="7152640" cy="125171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716" b="0">
                <a:solidFill>
                  <a:schemeClr val="tx2"/>
                </a:solidFill>
                <a:latin typeface="+mn-lt"/>
              </a:defRPr>
            </a:lvl1pPr>
            <a:lvl2pPr marL="894100" indent="0">
              <a:buNone/>
              <a:defRPr sz="3716" b="1"/>
            </a:lvl2pPr>
            <a:lvl3pPr marL="1788201" indent="0">
              <a:buNone/>
              <a:defRPr sz="3520" b="1"/>
            </a:lvl3pPr>
            <a:lvl4pPr marL="2682301" indent="0">
              <a:buNone/>
              <a:defRPr sz="3129" b="1"/>
            </a:lvl4pPr>
            <a:lvl5pPr marL="3576401" indent="0">
              <a:buNone/>
              <a:defRPr sz="3129" b="1"/>
            </a:lvl5pPr>
            <a:lvl6pPr marL="4470502" indent="0">
              <a:buNone/>
              <a:defRPr sz="3129" b="1"/>
            </a:lvl6pPr>
            <a:lvl7pPr marL="5364602" indent="0">
              <a:buNone/>
              <a:defRPr sz="3129" b="1"/>
            </a:lvl7pPr>
            <a:lvl8pPr marL="6258702" indent="0">
              <a:buNone/>
              <a:defRPr sz="3129" b="1"/>
            </a:lvl8pPr>
            <a:lvl9pPr marL="7152803" indent="0">
              <a:buNone/>
              <a:defRPr sz="312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0528" y="5389312"/>
            <a:ext cx="7152640" cy="6258560"/>
          </a:xfrm>
        </p:spPr>
        <p:txBody>
          <a:bodyPr/>
          <a:lstStyle>
            <a:lvl1pPr>
              <a:defRPr sz="3520"/>
            </a:lvl1pPr>
            <a:lvl2pPr>
              <a:defRPr sz="3129"/>
            </a:lvl2pPr>
            <a:lvl3pPr>
              <a:defRPr sz="2738"/>
            </a:lvl3pPr>
            <a:lvl4pPr>
              <a:defRPr sz="2738"/>
            </a:lvl4pPr>
            <a:lvl5pPr>
              <a:defRPr sz="2738"/>
            </a:lvl5pPr>
            <a:lvl6pPr>
              <a:defRPr sz="2738"/>
            </a:lvl6pPr>
            <a:lvl7pPr>
              <a:defRPr sz="2738"/>
            </a:lvl7pPr>
            <a:lvl8pPr>
              <a:defRPr sz="2738"/>
            </a:lvl8pPr>
            <a:lvl9pPr>
              <a:defRPr sz="27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8432" y="4056475"/>
            <a:ext cx="7152640" cy="125171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716" b="0">
                <a:solidFill>
                  <a:schemeClr val="tx2"/>
                </a:solidFill>
              </a:defRPr>
            </a:lvl1pPr>
            <a:lvl2pPr marL="894100" indent="0">
              <a:buNone/>
              <a:defRPr sz="3716" b="1"/>
            </a:lvl2pPr>
            <a:lvl3pPr marL="1788201" indent="0">
              <a:buNone/>
              <a:defRPr sz="3520" b="1"/>
            </a:lvl3pPr>
            <a:lvl4pPr marL="2682301" indent="0">
              <a:buNone/>
              <a:defRPr sz="3129" b="1"/>
            </a:lvl4pPr>
            <a:lvl5pPr marL="3576401" indent="0">
              <a:buNone/>
              <a:defRPr sz="3129" b="1"/>
            </a:lvl5pPr>
            <a:lvl6pPr marL="4470502" indent="0">
              <a:buNone/>
              <a:defRPr sz="3129" b="1"/>
            </a:lvl6pPr>
            <a:lvl7pPr marL="5364602" indent="0">
              <a:buNone/>
              <a:defRPr sz="3129" b="1"/>
            </a:lvl7pPr>
            <a:lvl8pPr marL="6258702" indent="0">
              <a:buNone/>
              <a:defRPr sz="3129" b="1"/>
            </a:lvl8pPr>
            <a:lvl9pPr marL="7152803" indent="0">
              <a:buNone/>
              <a:defRPr sz="312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8432" y="5390647"/>
            <a:ext cx="7152640" cy="6258560"/>
          </a:xfrm>
        </p:spPr>
        <p:txBody>
          <a:bodyPr/>
          <a:lstStyle>
            <a:lvl1pPr>
              <a:defRPr sz="3520"/>
            </a:lvl1pPr>
            <a:lvl2pPr>
              <a:defRPr sz="3129"/>
            </a:lvl2pPr>
            <a:lvl3pPr>
              <a:defRPr sz="2738"/>
            </a:lvl3pPr>
            <a:lvl4pPr>
              <a:defRPr sz="2738"/>
            </a:lvl4pPr>
            <a:lvl5pPr>
              <a:defRPr sz="2738"/>
            </a:lvl5pPr>
            <a:lvl6pPr>
              <a:defRPr sz="2738"/>
            </a:lvl6pPr>
            <a:lvl7pPr>
              <a:defRPr sz="2738"/>
            </a:lvl7pPr>
            <a:lvl8pPr>
              <a:defRPr sz="2738"/>
            </a:lvl8pPr>
            <a:lvl9pPr>
              <a:defRPr sz="27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1C1B-2D8C-4B27-A726-6920F19D520F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7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6E90-FE2E-4AAC-8CC1-196DF4A627DD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6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2525-07B4-4985-9255-78C64D959638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2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3229900" y="339751"/>
            <a:ext cx="4291584" cy="12731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4721" y="1187789"/>
            <a:ext cx="3565144" cy="3218688"/>
          </a:xfrm>
        </p:spPr>
        <p:txBody>
          <a:bodyPr anchor="b">
            <a:normAutofit/>
          </a:bodyPr>
          <a:lstStyle>
            <a:lvl1pPr algn="l" defTabSz="178820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693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8219" y="1773969"/>
            <a:ext cx="10616430" cy="9863263"/>
          </a:xfrm>
        </p:spPr>
        <p:txBody>
          <a:bodyPr/>
          <a:lstStyle>
            <a:lvl1pPr>
              <a:defRPr sz="3520"/>
            </a:lvl1pPr>
            <a:lvl2pPr>
              <a:defRPr sz="3129"/>
            </a:lvl2pPr>
            <a:lvl3pPr>
              <a:defRPr sz="2738"/>
            </a:lvl3pPr>
            <a:lvl4pPr>
              <a:defRPr sz="2738"/>
            </a:lvl4pPr>
            <a:lvl5pPr>
              <a:defRPr sz="2738"/>
            </a:lvl5pPr>
            <a:lvl6pPr>
              <a:defRPr sz="2738"/>
            </a:lvl6pPr>
            <a:lvl7pPr>
              <a:defRPr sz="2738"/>
            </a:lvl7pPr>
            <a:lvl8pPr>
              <a:defRPr sz="2738"/>
            </a:lvl8pPr>
            <a:lvl9pPr>
              <a:defRPr sz="27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4721" y="4470400"/>
            <a:ext cx="3565144" cy="685461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564"/>
              </a:spcBef>
              <a:buNone/>
              <a:defRPr sz="2542">
                <a:solidFill>
                  <a:schemeClr val="tx1"/>
                </a:solidFill>
              </a:defRPr>
            </a:lvl1pPr>
            <a:lvl2pPr marL="894100" indent="0">
              <a:buNone/>
              <a:defRPr sz="2347"/>
            </a:lvl2pPr>
            <a:lvl3pPr marL="1788201" indent="0">
              <a:buNone/>
              <a:defRPr sz="1956"/>
            </a:lvl3pPr>
            <a:lvl4pPr marL="2682301" indent="0">
              <a:buNone/>
              <a:defRPr sz="1760"/>
            </a:lvl4pPr>
            <a:lvl5pPr marL="3576401" indent="0">
              <a:buNone/>
              <a:defRPr sz="1760"/>
            </a:lvl5pPr>
            <a:lvl6pPr marL="4470502" indent="0">
              <a:buNone/>
              <a:defRPr sz="1760"/>
            </a:lvl6pPr>
            <a:lvl7pPr marL="5364602" indent="0">
              <a:buNone/>
              <a:defRPr sz="1760"/>
            </a:lvl7pPr>
            <a:lvl8pPr marL="6258702" indent="0">
              <a:buNone/>
              <a:defRPr sz="1760"/>
            </a:lvl8pPr>
            <a:lvl9pPr marL="7152803" indent="0">
              <a:buNone/>
              <a:defRPr sz="17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431068" y="536448"/>
            <a:ext cx="3889248" cy="12338304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A887-9381-4DBC-A02F-A017F7E6C501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147749" y="12324549"/>
            <a:ext cx="2145792" cy="536448"/>
          </a:xfrm>
        </p:spPr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2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3229900" y="339751"/>
            <a:ext cx="4291584" cy="12731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3431068" y="536448"/>
            <a:ext cx="3889248" cy="12338304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4720" y="1180186"/>
            <a:ext cx="3567379" cy="3218688"/>
          </a:xfrm>
        </p:spPr>
        <p:txBody>
          <a:bodyPr anchor="b">
            <a:noAutofit/>
          </a:bodyPr>
          <a:lstStyle>
            <a:lvl1pPr algn="l">
              <a:defRPr sz="4693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278" y="339751"/>
            <a:ext cx="12512650" cy="12731699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6258"/>
            </a:lvl1pPr>
            <a:lvl2pPr marL="894100" indent="0">
              <a:buNone/>
              <a:defRPr sz="5476"/>
            </a:lvl2pPr>
            <a:lvl3pPr marL="1788201" indent="0">
              <a:buNone/>
              <a:defRPr sz="4693"/>
            </a:lvl3pPr>
            <a:lvl4pPr marL="2682301" indent="0">
              <a:buNone/>
              <a:defRPr sz="3911"/>
            </a:lvl4pPr>
            <a:lvl5pPr marL="3576401" indent="0">
              <a:buNone/>
              <a:defRPr sz="3911"/>
            </a:lvl5pPr>
            <a:lvl6pPr marL="4470502" indent="0">
              <a:buNone/>
              <a:defRPr sz="3911"/>
            </a:lvl6pPr>
            <a:lvl7pPr marL="5364602" indent="0">
              <a:buNone/>
              <a:defRPr sz="3911"/>
            </a:lvl7pPr>
            <a:lvl8pPr marL="6258702" indent="0">
              <a:buNone/>
              <a:defRPr sz="3911"/>
            </a:lvl8pPr>
            <a:lvl9pPr marL="7152803" indent="0">
              <a:buNone/>
              <a:defRPr sz="391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4720" y="4470400"/>
            <a:ext cx="3567379" cy="6848653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1564"/>
              </a:spcBef>
              <a:buNone/>
              <a:defRPr sz="2542">
                <a:solidFill>
                  <a:schemeClr val="tx1"/>
                </a:solidFill>
              </a:defRPr>
            </a:lvl1pPr>
            <a:lvl2pPr marL="894100" indent="0">
              <a:buNone/>
              <a:defRPr sz="2347"/>
            </a:lvl2pPr>
            <a:lvl3pPr marL="1788201" indent="0">
              <a:buNone/>
              <a:defRPr sz="1956"/>
            </a:lvl3pPr>
            <a:lvl4pPr marL="2682301" indent="0">
              <a:buNone/>
              <a:defRPr sz="1760"/>
            </a:lvl4pPr>
            <a:lvl5pPr marL="3576401" indent="0">
              <a:buNone/>
              <a:defRPr sz="1760"/>
            </a:lvl5pPr>
            <a:lvl6pPr marL="4470502" indent="0">
              <a:buNone/>
              <a:defRPr sz="1760"/>
            </a:lvl6pPr>
            <a:lvl7pPr marL="5364602" indent="0">
              <a:buNone/>
              <a:defRPr sz="1760"/>
            </a:lvl7pPr>
            <a:lvl8pPr marL="6258702" indent="0">
              <a:buNone/>
              <a:defRPr sz="1760"/>
            </a:lvl8pPr>
            <a:lvl9pPr marL="7152803" indent="0">
              <a:buNone/>
              <a:defRPr sz="17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BEF43EB-4DEC-4C38-8E48-BE04B72556EE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1788201" rtl="0" eaLnBrk="1" latinLnBrk="0" hangingPunct="1">
              <a:defRPr lang="en-US" sz="176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248534" y="12338304"/>
            <a:ext cx="2145792" cy="53644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1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D5F95-9FCE-4ABB-B73B-F025D2426218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4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87680" y="1490133"/>
            <a:ext cx="3464560" cy="102819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1490133"/>
            <a:ext cx="11846560" cy="102819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8FAA1-25E1-4C7C-BF64-2452570F2C5D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6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44221" y="339751"/>
            <a:ext cx="17193158" cy="12731699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572211" y="572211"/>
            <a:ext cx="16737178" cy="122667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0528" y="1256628"/>
            <a:ext cx="15020544" cy="2682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0528" y="4112768"/>
            <a:ext cx="15020544" cy="7689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0411" y="12324549"/>
            <a:ext cx="4023360" cy="5364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7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78375" y="12324549"/>
            <a:ext cx="7724851" cy="5364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7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61504" y="12324549"/>
            <a:ext cx="2145792" cy="5364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7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9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788201" rtl="0" eaLnBrk="1" latinLnBrk="0" hangingPunct="1">
        <a:lnSpc>
          <a:spcPct val="90000"/>
        </a:lnSpc>
        <a:spcBef>
          <a:spcPct val="0"/>
        </a:spcBef>
        <a:buNone/>
        <a:defRPr lang="en-US" sz="7822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357640" indent="-357640" algn="l" defTabSz="1788201" rtl="0" eaLnBrk="1" latinLnBrk="0" hangingPunct="1">
        <a:lnSpc>
          <a:spcPct val="100000"/>
        </a:lnSpc>
        <a:spcBef>
          <a:spcPts val="176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3520" kern="1200">
          <a:solidFill>
            <a:schemeClr val="tx1"/>
          </a:solidFill>
          <a:latin typeface="+mn-lt"/>
          <a:ea typeface="+mn-ea"/>
          <a:cs typeface="+mn-cs"/>
        </a:defRPr>
      </a:lvl1pPr>
      <a:lvl2pPr marL="894100" indent="-357640" algn="l" defTabSz="1788201" rtl="0" eaLnBrk="1" latinLnBrk="0" hangingPunct="1">
        <a:lnSpc>
          <a:spcPct val="100000"/>
        </a:lnSpc>
        <a:spcBef>
          <a:spcPts val="978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3129" kern="1200">
          <a:solidFill>
            <a:schemeClr val="tx1"/>
          </a:solidFill>
          <a:latin typeface="+mn-lt"/>
          <a:ea typeface="+mn-ea"/>
          <a:cs typeface="+mn-cs"/>
        </a:defRPr>
      </a:lvl2pPr>
      <a:lvl3pPr marL="1430561" indent="-357640" algn="l" defTabSz="1788201" rtl="0" eaLnBrk="1" latinLnBrk="0" hangingPunct="1">
        <a:lnSpc>
          <a:spcPct val="100000"/>
        </a:lnSpc>
        <a:spcBef>
          <a:spcPts val="978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738" kern="1200">
          <a:solidFill>
            <a:schemeClr val="tx1"/>
          </a:solidFill>
          <a:latin typeface="+mn-lt"/>
          <a:ea typeface="+mn-ea"/>
          <a:cs typeface="+mn-cs"/>
        </a:defRPr>
      </a:lvl3pPr>
      <a:lvl4pPr marL="1967021" indent="-357640" algn="l" defTabSz="1788201" rtl="0" eaLnBrk="1" latinLnBrk="0" hangingPunct="1">
        <a:lnSpc>
          <a:spcPct val="100000"/>
        </a:lnSpc>
        <a:spcBef>
          <a:spcPts val="978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738" kern="1200">
          <a:solidFill>
            <a:schemeClr val="tx1"/>
          </a:solidFill>
          <a:latin typeface="+mn-lt"/>
          <a:ea typeface="+mn-ea"/>
          <a:cs typeface="+mn-cs"/>
        </a:defRPr>
      </a:lvl4pPr>
      <a:lvl5pPr marL="2503481" indent="-357640" algn="l" defTabSz="1788201" rtl="0" eaLnBrk="1" latinLnBrk="0" hangingPunct="1">
        <a:lnSpc>
          <a:spcPct val="100000"/>
        </a:lnSpc>
        <a:spcBef>
          <a:spcPts val="978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738" kern="1200">
          <a:solidFill>
            <a:schemeClr val="tx1"/>
          </a:solidFill>
          <a:latin typeface="+mn-lt"/>
          <a:ea typeface="+mn-ea"/>
          <a:cs typeface="+mn-cs"/>
        </a:defRPr>
      </a:lvl5pPr>
      <a:lvl6pPr marL="3128960" indent="-447050" algn="l" defTabSz="1788201" rtl="0" eaLnBrk="1" latinLnBrk="0" hangingPunct="1">
        <a:lnSpc>
          <a:spcPct val="100000"/>
        </a:lnSpc>
        <a:spcBef>
          <a:spcPts val="978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738" kern="1200">
          <a:solidFill>
            <a:schemeClr val="tx1"/>
          </a:solidFill>
          <a:latin typeface="+mn-lt"/>
          <a:ea typeface="+mn-ea"/>
          <a:cs typeface="+mn-cs"/>
        </a:defRPr>
      </a:lvl6pPr>
      <a:lvl7pPr marL="3715640" indent="-447050" algn="l" defTabSz="1788201" rtl="0" eaLnBrk="1" latinLnBrk="0" hangingPunct="1">
        <a:lnSpc>
          <a:spcPct val="100000"/>
        </a:lnSpc>
        <a:spcBef>
          <a:spcPts val="978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738" kern="1200">
          <a:solidFill>
            <a:schemeClr val="tx1"/>
          </a:solidFill>
          <a:latin typeface="+mn-lt"/>
          <a:ea typeface="+mn-ea"/>
          <a:cs typeface="+mn-cs"/>
        </a:defRPr>
      </a:lvl7pPr>
      <a:lvl8pPr marL="4302320" indent="-447050" algn="l" defTabSz="1788201" rtl="0" eaLnBrk="1" latinLnBrk="0" hangingPunct="1">
        <a:lnSpc>
          <a:spcPct val="100000"/>
        </a:lnSpc>
        <a:spcBef>
          <a:spcPts val="978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738" kern="1200">
          <a:solidFill>
            <a:schemeClr val="tx1"/>
          </a:solidFill>
          <a:latin typeface="+mn-lt"/>
          <a:ea typeface="+mn-ea"/>
          <a:cs typeface="+mn-cs"/>
        </a:defRPr>
      </a:lvl8pPr>
      <a:lvl9pPr marL="4889000" indent="-447050" algn="l" defTabSz="1788201" rtl="0" eaLnBrk="1" latinLnBrk="0" hangingPunct="1">
        <a:lnSpc>
          <a:spcPct val="100000"/>
        </a:lnSpc>
        <a:spcBef>
          <a:spcPts val="978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7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88201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1pPr>
      <a:lvl2pPr marL="894100" algn="l" defTabSz="1788201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2pPr>
      <a:lvl3pPr marL="1788201" algn="l" defTabSz="1788201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3pPr>
      <a:lvl4pPr marL="2682301" algn="l" defTabSz="1788201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4pPr>
      <a:lvl5pPr marL="3576401" algn="l" defTabSz="1788201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5pPr>
      <a:lvl6pPr marL="4470502" algn="l" defTabSz="1788201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6pPr>
      <a:lvl7pPr marL="5364602" algn="l" defTabSz="1788201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7pPr>
      <a:lvl8pPr marL="6258702" algn="l" defTabSz="1788201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8pPr>
      <a:lvl9pPr marL="7152803" algn="l" defTabSz="1788201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80000"/>
                <a:shade val="100000"/>
                <a:satMod val="300000"/>
              </a:schemeClr>
            </a:gs>
            <a:gs pos="100000">
              <a:schemeClr val="bg1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New Table"/>
          <p:cNvGraphicFramePr>
            <a:graphicFrameLocks noGrp="1"/>
          </p:cNvGraphicFramePr>
          <p:nvPr/>
        </p:nvGraphicFramePr>
        <p:xfrm>
          <a:off x="2103720" y="14923247"/>
          <a:ext cx="13674165" cy="124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9082">
                <a:tc>
                  <a:txBody>
                    <a:bodyPr/>
                    <a:lstStyle/>
                    <a:p>
                      <a:endParaRPr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0D3D5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New Table"/>
          <p:cNvGraphicFramePr>
            <a:graphicFrameLocks noGrp="1"/>
          </p:cNvGraphicFramePr>
          <p:nvPr/>
        </p:nvGraphicFramePr>
        <p:xfrm>
          <a:off x="15166716" y="15887451"/>
          <a:ext cx="545427" cy="59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 indent="0" algn="r"/>
                      <a:r>
                        <a:rPr sz="2500" b="1" i="0" u="none" strike="noStrike" baseline="0">
                          <a:ln>
                            <a:noFill/>
                          </a:ln>
                          <a:solidFill>
                            <a:srgbClr val="A4AAAE"/>
                          </a:solidFill>
                          <a:latin typeface="Arial" pitchFamily="34" charset="0"/>
                        </a:rPr>
                        <a:t>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F3F187C-FD5A-D7D2-1FBA-020DB28E63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9647231"/>
              </p:ext>
            </p:extLst>
          </p:nvPr>
        </p:nvGraphicFramePr>
        <p:xfrm>
          <a:off x="0" y="745066"/>
          <a:ext cx="17881600" cy="11921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phic 7" descr="Pencils with note paper and pencil sharpener">
            <a:extLst>
              <a:ext uri="{FF2B5EF4-FFF2-40B4-BE49-F238E27FC236}">
                <a16:creationId xmlns:a16="http://schemas.microsoft.com/office/drawing/2014/main" id="{D1E80E8E-CCD3-35F1-5B4F-0C3193BA9E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7217239">
            <a:off x="5684654" y="6782423"/>
            <a:ext cx="4375152" cy="4375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New Table"/>
          <p:cNvGraphicFramePr>
            <a:graphicFrameLocks noGrp="1"/>
          </p:cNvGraphicFramePr>
          <p:nvPr/>
        </p:nvGraphicFramePr>
        <p:xfrm>
          <a:off x="2103720" y="14923247"/>
          <a:ext cx="13674165" cy="124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9082">
                <a:tc>
                  <a:txBody>
                    <a:bodyPr/>
                    <a:lstStyle/>
                    <a:p>
                      <a:endParaRPr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0D3D5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218830"/>
              </p:ext>
            </p:extLst>
          </p:nvPr>
        </p:nvGraphicFramePr>
        <p:xfrm>
          <a:off x="2279030" y="-2410509"/>
          <a:ext cx="13323545" cy="2375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5667">
                <a:tc>
                  <a:txBody>
                    <a:bodyPr/>
                    <a:lstStyle/>
                    <a:p>
                      <a:pPr indent="0" algn="l"/>
                      <a:endParaRPr sz="5600" b="1" i="0" u="none" strike="noStrike" baseline="0" dirty="0">
                        <a:ln>
                          <a:noFill/>
                        </a:ln>
                        <a:solidFill>
                          <a:srgbClr val="076685"/>
                        </a:solidFill>
                        <a:latin typeface="Arial" pitchFamily="34" charset="0"/>
                      </a:endParaRPr>
                    </a:p>
                  </a:txBody>
                  <a:tcPr marL="0" marR="0" marT="65741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860047"/>
              </p:ext>
            </p:extLst>
          </p:nvPr>
        </p:nvGraphicFramePr>
        <p:xfrm>
          <a:off x="2279030" y="4042662"/>
          <a:ext cx="13323545" cy="56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0440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A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product of </a:t>
                      </a:r>
                      <a:r>
                        <a:rPr sz="3400" b="1" i="0" u="none" strike="noStrike" baseline="0" dirty="0" err="1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MadCap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Software, founded 2005 in San Diego 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086075"/>
              </p:ext>
            </p:extLst>
          </p:nvPr>
        </p:nvGraphicFramePr>
        <p:xfrm>
          <a:off x="2279030" y="4909895"/>
          <a:ext cx="13323545" cy="1795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5705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Key Concepts: a single-source publishing content authoring tool that allows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one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content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source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to be used more than once across different media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819680"/>
              </p:ext>
            </p:extLst>
          </p:nvPr>
        </p:nvGraphicFramePr>
        <p:xfrm>
          <a:off x="2279030" y="7012393"/>
          <a:ext cx="1332354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5541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Providing ability to author large documents as in Word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&amp; FrameMaker…</a:t>
                      </a:r>
                      <a:endParaRPr sz="3400" b="1" i="0" u="none" strike="noStrike" baseline="0" dirty="0">
                        <a:ln>
                          <a:noFill/>
                        </a:ln>
                        <a:solidFill>
                          <a:srgbClr val="45494C"/>
                        </a:solidFill>
                        <a:latin typeface="Arial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779607"/>
              </p:ext>
            </p:extLst>
          </p:nvPr>
        </p:nvGraphicFramePr>
        <p:xfrm>
          <a:off x="2279030" y="8534400"/>
          <a:ext cx="13323545" cy="1750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903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but entirely written in short chunks of self-contained discussions called Topics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731144"/>
              </p:ext>
            </p:extLst>
          </p:nvPr>
        </p:nvGraphicFramePr>
        <p:xfrm>
          <a:off x="2279030" y="10102050"/>
          <a:ext cx="13323545" cy="1526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6365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Topics address ONE Question and are a quick and easy read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..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.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New Table"/>
          <p:cNvGraphicFramePr>
            <a:graphicFrameLocks noGrp="1"/>
          </p:cNvGraphicFramePr>
          <p:nvPr/>
        </p:nvGraphicFramePr>
        <p:xfrm>
          <a:off x="15340755" y="15887451"/>
          <a:ext cx="371389" cy="59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 indent="0" algn="r"/>
                      <a:r>
                        <a:rPr sz="2500" b="1" i="0" u="none" strike="noStrike" baseline="0">
                          <a:ln>
                            <a:noFill/>
                          </a:ln>
                          <a:solidFill>
                            <a:srgbClr val="A4AAAE"/>
                          </a:solidFill>
                          <a:latin typeface="Arial" pitchFamily="34" charset="0"/>
                        </a:rPr>
                        <a:t>3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1BA4C10-C08D-753F-8D32-7AB4F262748D}"/>
              </a:ext>
            </a:extLst>
          </p:cNvPr>
          <p:cNvSpPr txBox="1"/>
          <p:nvPr/>
        </p:nvSpPr>
        <p:spPr>
          <a:xfrm>
            <a:off x="458816" y="1021475"/>
            <a:ext cx="1655918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/>
            <a:r>
              <a:rPr lang="en-US" sz="6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 The</a:t>
            </a:r>
            <a:r>
              <a:rPr lang="en-US" sz="6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rial" pitchFamily="34" charset="0"/>
              </a:rPr>
              <a:t> </a:t>
            </a:r>
            <a:r>
              <a:rPr lang="en-US" sz="6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"Intrigue" of </a:t>
            </a:r>
            <a:r>
              <a:rPr lang="en-US" sz="6600" b="1" i="0" u="none" strike="noStrike" baseline="0" dirty="0" err="1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MadCap</a:t>
            </a:r>
            <a:r>
              <a:rPr lang="en-US" sz="6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 Flare:</a:t>
            </a:r>
          </a:p>
          <a:p>
            <a:pPr indent="0" algn="l"/>
            <a:r>
              <a:rPr lang="en-US" sz="6600" b="1" dirty="0">
                <a:solidFill>
                  <a:srgbClr val="076685"/>
                </a:solidFill>
                <a:latin typeface="Amasis MT Pro Black" panose="02040A04050005020304" pitchFamily="18" charset="0"/>
              </a:rPr>
              <a:t>              </a:t>
            </a:r>
            <a:r>
              <a:rPr lang="en-US" sz="6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 the Most Favorite </a:t>
            </a:r>
          </a:p>
        </p:txBody>
      </p:sp>
      <p:pic>
        <p:nvPicPr>
          <p:cNvPr id="2" name="Picture 4" descr="MadCap Flare Reviews 2025: Details, Pricing, &amp; Features | G2">
            <a:extLst>
              <a:ext uri="{FF2B5EF4-FFF2-40B4-BE49-F238E27FC236}">
                <a16:creationId xmlns:a16="http://schemas.microsoft.com/office/drawing/2014/main" id="{C5620CAA-C983-BD05-DB78-2134F68F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8088" y="-4014193"/>
            <a:ext cx="2590800" cy="241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MadCap Flare for Windows - Free download and software reviews - CNET  Download">
            <a:extLst>
              <a:ext uri="{FF2B5EF4-FFF2-40B4-BE49-F238E27FC236}">
                <a16:creationId xmlns:a16="http://schemas.microsoft.com/office/drawing/2014/main" id="{46AFBB0F-8D32-B07A-C92D-5EF94C424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5344" y="944858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New Table"/>
          <p:cNvGraphicFramePr>
            <a:graphicFrameLocks noGrp="1"/>
          </p:cNvGraphicFramePr>
          <p:nvPr/>
        </p:nvGraphicFramePr>
        <p:xfrm>
          <a:off x="2103720" y="14923247"/>
          <a:ext cx="13674165" cy="124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9082">
                <a:tc>
                  <a:txBody>
                    <a:bodyPr/>
                    <a:lstStyle/>
                    <a:p>
                      <a:endParaRPr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0D3D5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191828"/>
              </p:ext>
            </p:extLst>
          </p:nvPr>
        </p:nvGraphicFramePr>
        <p:xfrm>
          <a:off x="2194859" y="1768925"/>
          <a:ext cx="14020800" cy="1804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4696">
                <a:tc>
                  <a:txBody>
                    <a:bodyPr/>
                    <a:lstStyle/>
                    <a:p>
                      <a:pPr indent="0" algn="l"/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More "Intrigue" ~ </a:t>
                      </a:r>
                      <a:r>
                        <a:rPr lang="en-US" sz="6600" b="1" i="0" u="none" strike="noStrike" baseline="0" dirty="0" err="1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MadCap</a:t>
                      </a:r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Flare 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169380"/>
              </p:ext>
            </p:extLst>
          </p:nvPr>
        </p:nvGraphicFramePr>
        <p:xfrm>
          <a:off x="2279030" y="4095981"/>
          <a:ext cx="13323545" cy="1045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45976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-- and Topics can be strung together with tremendous flexibility...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171844"/>
              </p:ext>
            </p:extLst>
          </p:nvPr>
        </p:nvGraphicFramePr>
        <p:xfrm>
          <a:off x="2279030" y="5600261"/>
          <a:ext cx="13323545" cy="1324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24475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to create large Documents and other outputs, and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…</a:t>
                      </a:r>
                      <a:endParaRPr sz="3400" b="1" i="0" u="none" strike="noStrike" baseline="0" dirty="0">
                        <a:ln>
                          <a:noFill/>
                        </a:ln>
                        <a:solidFill>
                          <a:srgbClr val="45494C"/>
                        </a:solidFill>
                        <a:latin typeface="Arial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57388"/>
              </p:ext>
            </p:extLst>
          </p:nvPr>
        </p:nvGraphicFramePr>
        <p:xfrm>
          <a:off x="2279030" y="6874536"/>
          <a:ext cx="1332354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24392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generate output in various formats: especially known for web help output; largely used for online help systems,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HTML,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e-learning modules and various guides and manuals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341366"/>
              </p:ext>
            </p:extLst>
          </p:nvPr>
        </p:nvGraphicFramePr>
        <p:xfrm>
          <a:off x="2279030" y="9175475"/>
          <a:ext cx="1332354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3889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but can also generate other outputs in Word, PDF, PP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T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and more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295624"/>
              </p:ext>
            </p:extLst>
          </p:nvPr>
        </p:nvGraphicFramePr>
        <p:xfrm>
          <a:off x="2194859" y="10439400"/>
          <a:ext cx="13323545" cy="1196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96787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Topics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can only answer one question, to make them a quick read; but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have links to related Topics.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New Table"/>
          <p:cNvGraphicFramePr>
            <a:graphicFrameLocks noGrp="1"/>
          </p:cNvGraphicFramePr>
          <p:nvPr/>
        </p:nvGraphicFramePr>
        <p:xfrm>
          <a:off x="14406068" y="15887451"/>
          <a:ext cx="1306075" cy="59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 indent="0" algn="r"/>
                      <a:r>
                        <a:rPr sz="2500" b="1" i="0" u="none" strike="noStrike" baseline="0">
                          <a:ln>
                            <a:noFill/>
                          </a:ln>
                          <a:solidFill>
                            <a:srgbClr val="A4AAAE"/>
                          </a:solidFill>
                          <a:latin typeface="Arial" pitchFamily="34" charset="0"/>
                        </a:rPr>
                        <a:t>4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New Table"/>
          <p:cNvGraphicFramePr>
            <a:graphicFrameLocks noGrp="1"/>
          </p:cNvGraphicFramePr>
          <p:nvPr/>
        </p:nvGraphicFramePr>
        <p:xfrm>
          <a:off x="2103720" y="14923247"/>
          <a:ext cx="13674165" cy="124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9082">
                <a:tc>
                  <a:txBody>
                    <a:bodyPr/>
                    <a:lstStyle/>
                    <a:p>
                      <a:endParaRPr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0D3D5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53248"/>
              </p:ext>
            </p:extLst>
          </p:nvPr>
        </p:nvGraphicFramePr>
        <p:xfrm>
          <a:off x="1320800" y="806858"/>
          <a:ext cx="15773400" cy="2364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5346">
                <a:tc>
                  <a:txBody>
                    <a:bodyPr/>
                    <a:lstStyle/>
                    <a:p>
                      <a:pPr indent="0" algn="l"/>
                      <a:r>
                        <a:rPr sz="5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Advantages of </a:t>
                      </a:r>
                      <a:r>
                        <a:rPr sz="5600" b="1" i="0" u="none" strike="noStrike" baseline="0" dirty="0" err="1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MadCap</a:t>
                      </a:r>
                      <a:r>
                        <a:rPr sz="5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Flare over Word</a:t>
                      </a:r>
                      <a:r>
                        <a:rPr lang="en-US" sz="5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&amp;</a:t>
                      </a:r>
                    </a:p>
                    <a:p>
                      <a:pPr indent="0" algn="l"/>
                      <a:r>
                        <a:rPr lang="en-US" sz="5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 FrameMaker</a:t>
                      </a:r>
                      <a:r>
                        <a:rPr sz="5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</a:t>
                      </a:r>
                      <a:r>
                        <a:rPr lang="en-US" sz="5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~</a:t>
                      </a:r>
                      <a:r>
                        <a:rPr sz="5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"Tremendous flexibility"</a:t>
                      </a:r>
                    </a:p>
                  </a:txBody>
                  <a:tcPr marL="0" marR="0" marT="65741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787055"/>
              </p:ext>
            </p:extLst>
          </p:nvPr>
        </p:nvGraphicFramePr>
        <p:xfrm>
          <a:off x="2322855" y="3668421"/>
          <a:ext cx="1332354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8398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"WRITE ONCE, PUBLISH TO MANY OUTLETS"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041277"/>
              </p:ext>
            </p:extLst>
          </p:nvPr>
        </p:nvGraphicFramePr>
        <p:xfrm>
          <a:off x="2279030" y="6238331"/>
          <a:ext cx="13674165" cy="1693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93037">
                <a:tc>
                  <a:txBody>
                    <a:bodyPr/>
                    <a:lstStyle/>
                    <a:p>
                      <a:pPr indent="0" algn="l"/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Many built-in templates help authors &amp; teams with consistency and speed 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694432"/>
              </p:ext>
            </p:extLst>
          </p:nvPr>
        </p:nvGraphicFramePr>
        <p:xfrm>
          <a:off x="2279030" y="4631897"/>
          <a:ext cx="1332354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40103">
                <a:tc>
                  <a:txBody>
                    <a:bodyPr/>
                    <a:lstStyle/>
                    <a:p>
                      <a:pPr indent="0" algn="l"/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Ability to flexibly re-use small chunks of content Topics across multiple projects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547687"/>
              </p:ext>
            </p:extLst>
          </p:nvPr>
        </p:nvGraphicFramePr>
        <p:xfrm>
          <a:off x="2279030" y="7719968"/>
          <a:ext cx="1332354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6111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Topics can be included or excluded to create Document Manuals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for different audiences, countries, etc. </a:t>
                      </a:r>
                    </a:p>
                    <a:p>
                      <a:pPr indent="0" algn="l"/>
                      <a:endParaRPr sz="3400" b="1" i="0" u="none" strike="noStrike" baseline="0" dirty="0">
                        <a:ln>
                          <a:noFill/>
                        </a:ln>
                        <a:solidFill>
                          <a:srgbClr val="45494C"/>
                        </a:solidFill>
                        <a:latin typeface="Arial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604202"/>
              </p:ext>
            </p:extLst>
          </p:nvPr>
        </p:nvGraphicFramePr>
        <p:xfrm>
          <a:off x="2279030" y="9341585"/>
          <a:ext cx="1332354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8464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Affordable automated customized output by including and excluding Topics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692396"/>
              </p:ext>
            </p:extLst>
          </p:nvPr>
        </p:nvGraphicFramePr>
        <p:xfrm>
          <a:off x="2279030" y="10650068"/>
          <a:ext cx="1332354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9082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Updating of Topics is easy and instantaneous through using variables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and snippets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(short strings of text that can easily be changed) throughout the documentation. 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New Table"/>
          <p:cNvGraphicFramePr>
            <a:graphicFrameLocks noGrp="1"/>
          </p:cNvGraphicFramePr>
          <p:nvPr/>
        </p:nvGraphicFramePr>
        <p:xfrm>
          <a:off x="15471196" y="15887451"/>
          <a:ext cx="240946" cy="59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 indent="0" algn="r"/>
                      <a:r>
                        <a:rPr sz="2500" b="1" i="0" u="none" strike="noStrike" baseline="0">
                          <a:ln>
                            <a:noFill/>
                          </a:ln>
                          <a:solidFill>
                            <a:srgbClr val="A4AAAE"/>
                          </a:solidFill>
                          <a:latin typeface="Arial" pitchFamily="34" charset="0"/>
                        </a:rPr>
                        <a:t>5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New Table"/>
          <p:cNvGraphicFramePr>
            <a:graphicFrameLocks noGrp="1"/>
          </p:cNvGraphicFramePr>
          <p:nvPr/>
        </p:nvGraphicFramePr>
        <p:xfrm>
          <a:off x="2103720" y="14923247"/>
          <a:ext cx="13674165" cy="124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9082">
                <a:tc>
                  <a:txBody>
                    <a:bodyPr/>
                    <a:lstStyle/>
                    <a:p>
                      <a:endParaRPr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0D3D5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256696"/>
              </p:ext>
            </p:extLst>
          </p:nvPr>
        </p:nvGraphicFramePr>
        <p:xfrm>
          <a:off x="1854200" y="1212682"/>
          <a:ext cx="14098995" cy="2669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5255">
                <a:tc>
                  <a:txBody>
                    <a:bodyPr/>
                    <a:lstStyle/>
                    <a:p>
                      <a:pPr indent="0" algn="l"/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Types of </a:t>
                      </a:r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P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rojects </a:t>
                      </a:r>
                      <a:r>
                        <a:rPr sz="6600" b="1" i="0" u="none" strike="noStrike" baseline="0" dirty="0" err="1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MadCap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Flare</a:t>
                      </a:r>
                      <a:endParaRPr lang="en-US" sz="6600" b="1" i="0" u="none" strike="noStrike" baseline="0" dirty="0">
                        <a:ln>
                          <a:noFill/>
                        </a:ln>
                        <a:solidFill>
                          <a:srgbClr val="076685"/>
                        </a:solidFill>
                        <a:latin typeface="Amasis MT Pro Black" panose="02040A04050005020304" pitchFamily="18" charset="0"/>
                      </a:endParaRPr>
                    </a:p>
                    <a:p>
                      <a:pPr indent="0" algn="l"/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              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</a:t>
                      </a:r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C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an be </a:t>
                      </a:r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U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sed </a:t>
                      </a:r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F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or</a:t>
                      </a:r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:</a:t>
                      </a:r>
                      <a:endParaRPr sz="6600" b="1" i="0" u="none" strike="noStrike" baseline="0" dirty="0">
                        <a:ln>
                          <a:noFill/>
                        </a:ln>
                        <a:solidFill>
                          <a:srgbClr val="076685"/>
                        </a:solidFill>
                        <a:latin typeface="Amasis MT Pro Black" panose="02040A04050005020304" pitchFamily="18" charset="0"/>
                      </a:endParaRPr>
                    </a:p>
                  </a:txBody>
                  <a:tcPr marL="0" marR="0" marT="65741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20470"/>
              </p:ext>
            </p:extLst>
          </p:nvPr>
        </p:nvGraphicFramePr>
        <p:xfrm>
          <a:off x="2103720" y="4188568"/>
          <a:ext cx="13639800" cy="4208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8387">
                <a:tc>
                  <a:txBody>
                    <a:bodyPr/>
                    <a:lstStyle/>
                    <a:p>
                      <a:pPr marL="457200" marR="0" lvl="0" indent="-45720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tabLst/>
                        <a:defRPr/>
                      </a:pPr>
                      <a:endParaRPr lang="en-US" sz="2000" b="1" kern="120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400" b="1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-- Multi-author capable with consistency, accuracy, accountability</a:t>
                      </a:r>
                      <a:endParaRPr lang="en-US" sz="3400" b="1" kern="12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400" b="1" kern="12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indent="0" algn="l"/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Authoring large documents with many modules or Topics, where the Topics can be flexibly re-used in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more than one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document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to maximize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efficiency in writing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. Product examples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: 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247841"/>
              </p:ext>
            </p:extLst>
          </p:nvPr>
        </p:nvGraphicFramePr>
        <p:xfrm>
          <a:off x="2103720" y="7254240"/>
          <a:ext cx="1349885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8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1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Online Help manuals, e-learning training modules 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220878"/>
              </p:ext>
            </p:extLst>
          </p:nvPr>
        </p:nvGraphicFramePr>
        <p:xfrm>
          <a:off x="2103720" y="7878795"/>
          <a:ext cx="1354268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852">
                <a:tc>
                  <a:txBody>
                    <a:bodyPr/>
                    <a:lstStyle/>
                    <a:p>
                      <a:pPr indent="0" algn="l"/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Product manuals and guides for different audiences and countries and translations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599530"/>
              </p:ext>
            </p:extLst>
          </p:nvPr>
        </p:nvGraphicFramePr>
        <p:xfrm>
          <a:off x="2103720" y="9021509"/>
          <a:ext cx="13498855" cy="4827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27783"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Situations where it is extremely beneficial for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updates to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Topic/product to be disbursed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easily</a:t>
                      </a: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sz="3400" b="1" i="0" u="none" strike="noStrike" baseline="0" dirty="0">
                        <a:ln>
                          <a:noFill/>
                        </a:ln>
                        <a:solidFill>
                          <a:srgbClr val="45494C"/>
                        </a:solidFill>
                        <a:latin typeface="Arial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3400" b="1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-- Supports structured authoring, with many templates and Style Sheets already built in. </a:t>
                      </a:r>
                      <a:endParaRPr lang="en-US" sz="3400" b="1" kern="12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457200" indent="-457200" algn="l">
                        <a:buFont typeface="Wingdings" panose="05000000000000000000" pitchFamily="2" charset="2"/>
                        <a:buChar char="n"/>
                      </a:pPr>
                      <a:endParaRPr lang="en-US" sz="3400" b="1" i="0" u="none" strike="noStrike" baseline="0" dirty="0">
                        <a:ln>
                          <a:noFill/>
                        </a:ln>
                        <a:solidFill>
                          <a:srgbClr val="45494C"/>
                        </a:solidFill>
                        <a:latin typeface="Arial" pitchFamily="34" charset="0"/>
                      </a:endParaRPr>
                    </a:p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New Table"/>
          <p:cNvGraphicFramePr>
            <a:graphicFrameLocks noGrp="1"/>
          </p:cNvGraphicFramePr>
          <p:nvPr/>
        </p:nvGraphicFramePr>
        <p:xfrm>
          <a:off x="15384204" y="15887451"/>
          <a:ext cx="327938" cy="59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 indent="0" algn="r"/>
                      <a:r>
                        <a:rPr sz="2500" b="1" i="0" u="none" strike="noStrike" baseline="0">
                          <a:ln>
                            <a:noFill/>
                          </a:ln>
                          <a:solidFill>
                            <a:srgbClr val="A4AAAE"/>
                          </a:solidFill>
                          <a:latin typeface="Arial" pitchFamily="34" charset="0"/>
                        </a:rPr>
                        <a:t>6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New Table"/>
          <p:cNvGraphicFramePr>
            <a:graphicFrameLocks noGrp="1"/>
          </p:cNvGraphicFramePr>
          <p:nvPr/>
        </p:nvGraphicFramePr>
        <p:xfrm>
          <a:off x="2103720" y="14923247"/>
          <a:ext cx="13674165" cy="124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9082">
                <a:tc>
                  <a:txBody>
                    <a:bodyPr/>
                    <a:lstStyle/>
                    <a:p>
                      <a:endParaRPr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0D3D5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994535"/>
              </p:ext>
            </p:extLst>
          </p:nvPr>
        </p:nvGraphicFramePr>
        <p:xfrm>
          <a:off x="2103720" y="981373"/>
          <a:ext cx="13498855" cy="2502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2907">
                <a:tc>
                  <a:txBody>
                    <a:bodyPr/>
                    <a:lstStyle/>
                    <a:p>
                      <a:pPr indent="0" algn="l"/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 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Drawbacks</a:t>
                      </a:r>
                      <a:r>
                        <a:rPr sz="5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of </a:t>
                      </a:r>
                      <a:r>
                        <a:rPr sz="6600" b="1" i="0" u="none" strike="noStrike" baseline="0" dirty="0" err="1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MadCap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Flare</a:t>
                      </a:r>
                    </a:p>
                  </a:txBody>
                  <a:tcPr marL="0" marR="0" marT="65741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389451"/>
              </p:ext>
            </p:extLst>
          </p:nvPr>
        </p:nvGraphicFramePr>
        <p:xfrm>
          <a:off x="2271768" y="3146974"/>
          <a:ext cx="13323545" cy="670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0770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New way of writing, a lot to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learn and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manage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:</a:t>
                      </a:r>
                      <a:endParaRPr sz="3400" b="1" i="0" u="none" strike="noStrike" baseline="0" dirty="0">
                        <a:ln>
                          <a:noFill/>
                        </a:ln>
                        <a:solidFill>
                          <a:srgbClr val="45494C"/>
                        </a:solidFill>
                        <a:latin typeface="Arial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7207"/>
              </p:ext>
            </p:extLst>
          </p:nvPr>
        </p:nvGraphicFramePr>
        <p:xfrm>
          <a:off x="2279030" y="3930469"/>
          <a:ext cx="13323545" cy="1662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2719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A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Topic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, being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the smallest unit that answers a Question,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  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can lead to a huge number of topics and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files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to manage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... 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there could be 150,000 topic files!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929016"/>
              </p:ext>
            </p:extLst>
          </p:nvPr>
        </p:nvGraphicFramePr>
        <p:xfrm>
          <a:off x="2271768" y="6851630"/>
          <a:ext cx="13363177" cy="62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3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728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Requires discipline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;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and expense of IT support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886551"/>
              </p:ext>
            </p:extLst>
          </p:nvPr>
        </p:nvGraphicFramePr>
        <p:xfrm>
          <a:off x="2271768" y="5705913"/>
          <a:ext cx="1269805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8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9687">
                <a:tc>
                  <a:txBody>
                    <a:bodyPr/>
                    <a:lstStyle/>
                    <a:p>
                      <a:pPr indent="0" algn="l"/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</a:t>
                      </a: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 </a:t>
                      </a:r>
                      <a:r>
                        <a:rPr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Lack of flow between topics makes easy for authors to lose continuity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N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66255"/>
              </p:ext>
            </p:extLst>
          </p:nvPr>
        </p:nvGraphicFramePr>
        <p:xfrm>
          <a:off x="2271768" y="7706437"/>
          <a:ext cx="13105784" cy="5339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9003">
                <a:tc>
                  <a:txBody>
                    <a:bodyPr/>
                    <a:lstStyle/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3400" b="1" i="0" u="none" strike="noStrike" baseline="0" dirty="0">
                          <a:ln>
                            <a:noFill/>
                          </a:ln>
                          <a:solidFill>
                            <a:srgbClr val="45494C"/>
                          </a:solidFill>
                          <a:latin typeface="Arial" pitchFamily="34" charset="0"/>
                        </a:rPr>
                        <a:t>-- Subscription price is </a:t>
                      </a:r>
                      <a:r>
                        <a:rPr lang="en-US" sz="3400" dirty="0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COSTLY: The standard </a:t>
                      </a:r>
                      <a:r>
                        <a:rPr lang="en-US" sz="3400" b="1" dirty="0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Flare authoring license</a:t>
                      </a:r>
                      <a:r>
                        <a:rPr lang="en-US" sz="3400" dirty="0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costs </a:t>
                      </a:r>
                      <a:r>
                        <a:rPr lang="en-US" sz="3400" b="1" dirty="0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$234 per user, per month = $2,808 annually, </a:t>
                      </a:r>
                      <a:r>
                        <a:rPr lang="en-US" sz="3400" dirty="0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when billed annually, according to madcapflare.com </a:t>
                      </a: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3400" dirty="0">
                        <a:solidFill>
                          <a:srgbClr val="45494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3400" dirty="0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  <a:r>
                        <a:rPr lang="en-US" sz="3400" dirty="0" err="1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MadCap</a:t>
                      </a:r>
                      <a:r>
                        <a:rPr lang="en-US" sz="3400" dirty="0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Flare offers different pricing plans depending on the features needed </a:t>
                      </a: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45494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400" dirty="0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 So classmates, take advantage of our free subscription through December! </a:t>
                      </a:r>
                    </a:p>
                    <a:p>
                      <a:pPr indent="0" algn="l"/>
                      <a:endParaRPr sz="3400" b="1" i="0" u="none" strike="noStrike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New Table"/>
          <p:cNvGraphicFramePr>
            <a:graphicFrameLocks noGrp="1"/>
          </p:cNvGraphicFramePr>
          <p:nvPr/>
        </p:nvGraphicFramePr>
        <p:xfrm>
          <a:off x="15145134" y="15887451"/>
          <a:ext cx="567008" cy="59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 indent="0" algn="r"/>
                      <a:r>
                        <a:rPr sz="2500" b="1" i="0" u="none" strike="noStrike" baseline="0" dirty="0">
                          <a:ln>
                            <a:noFill/>
                          </a:ln>
                          <a:solidFill>
                            <a:srgbClr val="A4AAAE"/>
                          </a:solidFill>
                          <a:latin typeface="Arial" pitchFamily="34" charset="0"/>
                        </a:rPr>
                        <a:t>7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33E9-8A3D-98D6-C08D-EB4F37DD8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245" y="3002732"/>
            <a:ext cx="16093441" cy="9798867"/>
          </a:xfrm>
        </p:spPr>
        <p:txBody>
          <a:bodyPr>
            <a:normAutofit fontScale="90000"/>
          </a:bodyPr>
          <a:lstStyle/>
          <a:p>
            <a:pPr indent="0" algn="l"/>
            <a:br>
              <a:rPr lang="en-US" sz="4000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product of Adobe.com: </a:t>
            </a:r>
            <a:r>
              <a:rPr lang="en-US" sz="40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</a:rPr>
              <a:t>FrameMaker became an Adobe product in </a:t>
            </a:r>
            <a: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</a:rPr>
              <a:t>October 1995 when Adobe purchased Frame Technology Corp…30 years ago</a:t>
            </a:r>
            <a:b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800" b="1" dirty="0">
                <a:solidFill>
                  <a:srgbClr val="07668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8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Considered a “</a:t>
            </a:r>
            <a: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Market-leading solution for authoring and publishing technical documentation,” per adobe.com</a:t>
            </a:r>
            <a:b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Considered a step up from Microsoft Word authoring tool</a:t>
            </a:r>
            <a:r>
              <a:rPr lang="en-US" sz="3600" b="0" i="0" dirty="0">
                <a:solidFill>
                  <a:srgbClr val="3B3F41"/>
                </a:solidFill>
                <a:effectLst/>
                <a:latin typeface="roboto" panose="02000000000000000000" pitchFamily="2" charset="0"/>
              </a:rPr>
              <a:t> </a:t>
            </a:r>
            <a:br>
              <a:rPr lang="en-US" sz="3600" b="0" i="0" dirty="0">
                <a:solidFill>
                  <a:srgbClr val="3B3F41"/>
                </a:solidFill>
                <a:effectLst/>
                <a:latin typeface="roboto" panose="02000000000000000000" pitchFamily="2" charset="0"/>
              </a:rPr>
            </a:br>
            <a:br>
              <a:rPr lang="en-US" sz="3600" b="0" i="0" dirty="0">
                <a:solidFill>
                  <a:srgbClr val="3B3F41"/>
                </a:solidFill>
                <a:effectLst/>
                <a:latin typeface="roboto" panose="02000000000000000000" pitchFamily="2" charset="0"/>
              </a:rPr>
            </a:br>
            <a:r>
              <a:rPr lang="en-US" sz="3600" b="1" i="0" dirty="0">
                <a:solidFill>
                  <a:srgbClr val="3B3F4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 "Chapter-based" </a:t>
            </a:r>
            <a:r>
              <a:rPr lang="en-US" sz="3600" b="1" i="0" dirty="0">
                <a:solidFill>
                  <a:srgbClr val="3B3F41"/>
                </a:solidFill>
                <a:effectLst/>
                <a:latin typeface="roboto" panose="02000000000000000000" pitchFamily="2" charset="0"/>
              </a:rPr>
              <a:t>authoring model, originally designed for creating books for print, not modular on-line topics, was not designed for Topic-based maximum content reuse </a:t>
            </a:r>
            <a:br>
              <a:rPr lang="en-US" sz="3600" b="1" i="0" dirty="0">
                <a:solidFill>
                  <a:srgbClr val="3B3F41"/>
                </a:solidFill>
                <a:effectLst/>
                <a:latin typeface="roboto" panose="02000000000000000000" pitchFamily="2" charset="0"/>
              </a:rPr>
            </a:br>
            <a:br>
              <a:rPr lang="en-US" sz="3600" b="1" i="0" dirty="0">
                <a:solidFill>
                  <a:srgbClr val="3B3F41"/>
                </a:solidFill>
                <a:effectLst/>
                <a:latin typeface="roboto" panose="02000000000000000000" pitchFamily="2" charset="0"/>
              </a:rPr>
            </a:br>
            <a:r>
              <a:rPr lang="en-US" sz="36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 Can author in DITA and XML </a:t>
            </a:r>
            <a: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FrameMaker</a:t>
            </a:r>
            <a:r>
              <a:rPr lang="en-US" sz="36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powerful features for managing complex documents; ability to handle large, multi-language projects;</a:t>
            </a:r>
            <a:r>
              <a:rPr lang="en-US" sz="3600" b="1" i="0" dirty="0">
                <a:solidFill>
                  <a:srgbClr val="45494C"/>
                </a:solidFill>
                <a:effectLst/>
                <a:latin typeface="Google Sans"/>
              </a:rPr>
              <a:t> </a:t>
            </a:r>
            <a:r>
              <a:rPr lang="en-US" sz="36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flexibly supports structured and unstructured content</a:t>
            </a:r>
            <a:b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 Template-based for speed and consistency </a:t>
            </a:r>
            <a:b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 Collaboration; some </a:t>
            </a:r>
            <a:r>
              <a:rPr lang="en-US" sz="38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ontent re-use across documents (as in Flare)</a:t>
            </a:r>
            <a:b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8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 Can publish in many formats and channels including Kindle, HTML5, PDF and more.</a:t>
            </a:r>
            <a:r>
              <a:rPr lang="en-US" sz="38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8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8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60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60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000" b="1" dirty="0">
              <a:solidFill>
                <a:srgbClr val="4549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F545E7-61B6-BC82-5747-3C32FDAB5E65}"/>
              </a:ext>
            </a:extLst>
          </p:cNvPr>
          <p:cNvSpPr txBox="1">
            <a:spLocks/>
          </p:cNvSpPr>
          <p:nvPr/>
        </p:nvSpPr>
        <p:spPr>
          <a:xfrm>
            <a:off x="482600" y="609600"/>
            <a:ext cx="16687800" cy="243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78820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822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z="6000" b="1" dirty="0">
                <a:solidFill>
                  <a:srgbClr val="076685"/>
                </a:solidFill>
                <a:latin typeface="Amasis MT Pro Black" panose="02040A04050005020304" pitchFamily="18" charset="0"/>
                <a:cs typeface="Arial" panose="020B0604020202020204" pitchFamily="34" charset="0"/>
              </a:rPr>
              <a:t> The </a:t>
            </a:r>
            <a:r>
              <a:rPr lang="en-US" sz="60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"Legacy" of </a:t>
            </a:r>
            <a:r>
              <a:rPr lang="en-US" sz="6000" b="1" dirty="0">
                <a:solidFill>
                  <a:srgbClr val="076685"/>
                </a:solidFill>
                <a:latin typeface="Amasis MT Pro Black" panose="02040A04050005020304" pitchFamily="18" charset="0"/>
                <a:cs typeface="Arial" panose="020B0604020202020204" pitchFamily="34" charset="0"/>
              </a:rPr>
              <a:t>Adobe FrameMaker:</a:t>
            </a:r>
          </a:p>
          <a:p>
            <a:r>
              <a:rPr lang="en-US" sz="6000" b="1" dirty="0">
                <a:solidFill>
                  <a:srgbClr val="076685"/>
                </a:solidFill>
                <a:latin typeface="Amasis MT Pro Black" panose="02040A04050005020304" pitchFamily="18" charset="0"/>
                <a:cs typeface="Arial" panose="020B0604020202020204" pitchFamily="34" charset="0"/>
              </a:rPr>
              <a:t>     the Least Favorite </a:t>
            </a:r>
            <a:r>
              <a:rPr lang="en-US" sz="4000" b="1" dirty="0">
                <a:solidFill>
                  <a:srgbClr val="076685"/>
                </a:solidFill>
                <a:latin typeface="Amasis MT Pro Black" panose="02040A04050005020304" pitchFamily="18" charset="0"/>
                <a:cs typeface="Arial" panose="020B0604020202020204" pitchFamily="34" charset="0"/>
              </a:rPr>
              <a:t>(based on my limited use) 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9C582B1E-9309-12BC-1FB5-352E5CA34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88400" y="6553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E1C02F21-ED2F-44F0-40E4-8A03E16E7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5894" y="992510"/>
            <a:ext cx="1334567" cy="127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7053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3380-1631-47B1-F00E-FB7056534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1447800"/>
            <a:ext cx="15925800" cy="6400800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80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80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b="1" dirty="0">
                <a:solidFill>
                  <a:srgbClr val="076685"/>
                </a:solidFill>
                <a:latin typeface="Amasis MT Pro Black" panose="02040A04050005020304" pitchFamily="18" charset="0"/>
                <a:cs typeface="Arial" panose="020B0604020202020204" pitchFamily="34" charset="0"/>
              </a:rPr>
              <a:t>Advantages</a:t>
            </a:r>
            <a:r>
              <a:rPr lang="en-US" sz="3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 </a:t>
            </a:r>
            <a:r>
              <a:rPr lang="en-US" sz="9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of FrameMaker over Word &amp; </a:t>
            </a:r>
            <a:r>
              <a:rPr lang="en-US" sz="9600" b="1" i="0" u="none" strike="noStrike" baseline="0" dirty="0" err="1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MadCap</a:t>
            </a:r>
            <a:r>
              <a:rPr lang="en-US" sz="9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 Flare:</a:t>
            </a:r>
            <a:br>
              <a:rPr lang="en-US" sz="34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4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More powerful than Word; better handles large, complex, shared documents, complicated tables, numbering and figures and graphics (and costs 3.2x Word; $39.99 vs. $12.50/month) </a:t>
            </a:r>
            <a:b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Not as powerful as Flare, but costs 17% of what Flare costs per month per user, with annual subscriptions</a:t>
            </a:r>
            <a:b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FrameMaker time-saving features compared to Word: (saving time in authoring is saving money); to include </a:t>
            </a:r>
            <a:r>
              <a:rPr lang="en-US" sz="3600" b="1" dirty="0" err="1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ToC’s</a:t>
            </a:r>
            <a: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cross-references, conditional and variable text, and multiple-document books, much of which Word cannot do well</a:t>
            </a:r>
            <a:b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40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~~~~~~~~~~~~~~~</a:t>
            </a:r>
            <a:br>
              <a:rPr lang="en-US" sz="40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Adobe offers different plans, including options for individuals, teams, enterprises, and education.</a:t>
            </a:r>
            <a:br>
              <a:rPr lang="en-US" sz="31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1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Pricing detail: </a:t>
            </a:r>
            <a:r>
              <a:rPr lang="en-US" sz="3100" b="1" i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month </a:t>
            </a:r>
            <a:r>
              <a:rPr lang="en-US" sz="31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user when billed annually:</a:t>
            </a:r>
            <a:br>
              <a:rPr lang="en-US" sz="31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Adobe FrameMaker starts at $39.99, per adobe.com, compared to Flare at $234, per madcapsoftware.com; and Word at $12.50 (</a:t>
            </a:r>
            <a:r>
              <a:rPr lang="en-US" sz="31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Microsoft 365 Business Standard with Word, Excel, PowerPoint), per microsoft.com. 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rgbClr val="4549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9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New Table"/>
          <p:cNvGraphicFramePr>
            <a:graphicFrameLocks noGrp="1"/>
          </p:cNvGraphicFramePr>
          <p:nvPr/>
        </p:nvGraphicFramePr>
        <p:xfrm>
          <a:off x="2103720" y="14923247"/>
          <a:ext cx="13674165" cy="124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49082">
                <a:tc>
                  <a:txBody>
                    <a:bodyPr/>
                    <a:lstStyle/>
                    <a:p>
                      <a:endParaRPr sz="20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0D3D5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New Table"/>
          <p:cNvGraphicFramePr>
            <a:graphicFrameLocks noGrp="1"/>
          </p:cNvGraphicFramePr>
          <p:nvPr/>
        </p:nvGraphicFramePr>
        <p:xfrm>
          <a:off x="15166787" y="15887451"/>
          <a:ext cx="545357" cy="59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 indent="0" algn="r"/>
                      <a:r>
                        <a:rPr sz="2500" b="1" i="0" u="none" strike="noStrike" baseline="0">
                          <a:ln>
                            <a:noFill/>
                          </a:ln>
                          <a:solidFill>
                            <a:srgbClr val="A4AAAE"/>
                          </a:solidFill>
                          <a:latin typeface="Arial" pitchFamily="34" charset="0"/>
                        </a:rPr>
                        <a:t>2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7405AE9-72B3-ED96-E868-B075602E0734}"/>
              </a:ext>
            </a:extLst>
          </p:cNvPr>
          <p:cNvSpPr txBox="1"/>
          <p:nvPr/>
        </p:nvSpPr>
        <p:spPr>
          <a:xfrm>
            <a:off x="1358900" y="1350288"/>
            <a:ext cx="15163800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Types of Projects FrameMaker</a:t>
            </a:r>
            <a:br>
              <a:rPr lang="en-US" sz="6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</a:br>
            <a:r>
              <a:rPr lang="en-US" sz="6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masis MT Pro Black" panose="02040A04050005020304" pitchFamily="18" charset="0"/>
              </a:rPr>
              <a:t>              Can be Used For:</a:t>
            </a:r>
          </a:p>
          <a:p>
            <a:r>
              <a:rPr lang="en-US" sz="3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rial" pitchFamily="34" charset="0"/>
              </a:rPr>
              <a:t>    </a:t>
            </a:r>
            <a:br>
              <a:rPr lang="en-US" sz="9600" b="1" i="0" u="none" strike="noStrike" baseline="0" dirty="0">
                <a:ln>
                  <a:noFill/>
                </a:ln>
                <a:solidFill>
                  <a:srgbClr val="076685"/>
                </a:solidFill>
                <a:latin typeface="Arial" pitchFamily="34" charset="0"/>
              </a:rPr>
            </a:br>
            <a:r>
              <a:rPr lang="en-US" sz="36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Similarly to Flare, FrameMaker can be used for a</a:t>
            </a:r>
            <a:r>
              <a:rPr lang="en-US" sz="36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uthoring and editing large and complex documents and technical content, including structured and unstructured documents, with collaboration</a:t>
            </a:r>
            <a:r>
              <a:rPr lang="en-US" sz="3600" b="1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en-US" sz="36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some content reuse…</a:t>
            </a:r>
          </a:p>
          <a:p>
            <a:endParaRPr lang="en-US" sz="3600" b="1" dirty="0">
              <a:solidFill>
                <a:srgbClr val="4549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-- In existence for 30 years, it is more often used for printed books, whereas Flare is more often used for on-line help documentation modules and similar.</a:t>
            </a:r>
            <a:br>
              <a:rPr lang="en-US" sz="3600" b="1" i="0" dirty="0">
                <a:solidFill>
                  <a:srgbClr val="45494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9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0EBCD-ADC8-6E6A-A56D-5E621E45C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New Table">
            <a:extLst>
              <a:ext uri="{FF2B5EF4-FFF2-40B4-BE49-F238E27FC236}">
                <a16:creationId xmlns:a16="http://schemas.microsoft.com/office/drawing/2014/main" id="{291CD712-607A-01D5-8732-8FDF7B12C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196325"/>
              </p:ext>
            </p:extLst>
          </p:nvPr>
        </p:nvGraphicFramePr>
        <p:xfrm>
          <a:off x="939800" y="981373"/>
          <a:ext cx="15849600" cy="2502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2907">
                <a:tc>
                  <a:txBody>
                    <a:bodyPr/>
                    <a:lstStyle/>
                    <a:p>
                      <a:pPr indent="0" algn="l"/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 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Drawbacks</a:t>
                      </a:r>
                      <a:r>
                        <a:rPr sz="5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 </a:t>
                      </a:r>
                      <a:r>
                        <a:rPr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of </a:t>
                      </a:r>
                      <a:r>
                        <a:rPr lang="en-US" sz="6600" b="1" i="0" u="none" strike="noStrike" baseline="0" dirty="0">
                          <a:ln>
                            <a:noFill/>
                          </a:ln>
                          <a:solidFill>
                            <a:srgbClr val="076685"/>
                          </a:solidFill>
                          <a:latin typeface="Amasis MT Pro Black" panose="02040A04050005020304" pitchFamily="18" charset="0"/>
                        </a:rPr>
                        <a:t>Adobe FrameMaker</a:t>
                      </a:r>
                      <a:endParaRPr sz="6600" b="1" i="0" u="none" strike="noStrike" baseline="0" dirty="0">
                        <a:ln>
                          <a:noFill/>
                        </a:ln>
                        <a:solidFill>
                          <a:srgbClr val="076685"/>
                        </a:solidFill>
                        <a:latin typeface="Amasis MT Pro Black" panose="02040A04050005020304" pitchFamily="18" charset="0"/>
                      </a:endParaRPr>
                    </a:p>
                  </a:txBody>
                  <a:tcPr marL="0" marR="0" marT="65741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New Table">
            <a:extLst>
              <a:ext uri="{FF2B5EF4-FFF2-40B4-BE49-F238E27FC236}">
                <a16:creationId xmlns:a16="http://schemas.microsoft.com/office/drawing/2014/main" id="{E7B67E97-BEC3-B5A0-621B-2FC426CB7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650632"/>
              </p:ext>
            </p:extLst>
          </p:nvPr>
        </p:nvGraphicFramePr>
        <p:xfrm>
          <a:off x="1016000" y="2514601"/>
          <a:ext cx="15773400" cy="1133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210799">
                <a:tc>
                  <a:txBody>
                    <a:bodyPr/>
                    <a:lstStyle/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3400" b="1" dirty="0">
                          <a:solidFill>
                            <a:srgbClr val="45494C"/>
                          </a:solidFill>
                          <a:latin typeface="Abad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2800" b="1" dirty="0">
                          <a:solidFill>
                            <a:srgbClr val="45494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 </a:t>
                      </a: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Potential for being less user-friendly compared to Word and simpler options, for basic document creation</a:t>
                      </a: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2800" b="1" i="0" kern="120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-- Editing, from personal homework experience in the FrameMaker 30-day trial: a little more cumbersome than in Flare, where all editing tools are in view: In FM XHTML editing, unstructured mode, there is no side-by-side WYSIWYG and code view, nor a real-time display of changes made in both views at the same time; must toggle from one view to another to check changes you made; a lot of back and forth and cannot do a side-by-side comparison</a:t>
                      </a:r>
                    </a:p>
                    <a:p>
                      <a:pPr marL="457200" marR="0" lvl="0" indent="-45720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tabLst/>
                        <a:defRPr/>
                      </a:pPr>
                      <a:endParaRPr lang="en-US" sz="2800" b="1" i="0" kern="120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-- In structured authoring mode, you can only view the underlying code in another pane,  and cannot freely edit it</a:t>
                      </a: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2800" b="1" i="0" kern="120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-- The Trial expired, so I could not get back to FM, but I had also noted that the Styles were not at our fingertips, as in </a:t>
                      </a:r>
                      <a:r>
                        <a:rPr lang="en-US" sz="2800" b="1" i="0" kern="1200" dirty="0" err="1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MadCap</a:t>
                      </a: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Flare: FM Styles took a few extra steps and clicks:</a:t>
                      </a: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-- Ex </a:t>
                      </a:r>
                      <a:r>
                        <a:rPr lang="en-US" sz="2800" b="0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Choose </a:t>
                      </a: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Format</a:t>
                      </a:r>
                      <a:r>
                        <a:rPr lang="en-US" sz="2800" b="0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&gt; </a:t>
                      </a: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Paragraphs</a:t>
                      </a:r>
                      <a:r>
                        <a:rPr lang="en-US" sz="2800" b="0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&gt; </a:t>
                      </a: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Paragraph Designer</a:t>
                      </a:r>
                      <a:r>
                        <a:rPr lang="en-US" sz="2800" b="0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to open the </a:t>
                      </a: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Paragraph Designer</a:t>
                      </a: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2800" b="1" i="0" kern="120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800" b="1" i="0" kern="120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-- Relatively steep learning curve</a:t>
                      </a: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2800" b="1" i="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800" b="1" i="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 No Mac OS X version…limiting use of Adobe FrameMaker to Windows PCs</a:t>
                      </a:r>
                    </a:p>
                    <a:p>
                      <a:pPr marL="457200" marR="0" lvl="0" indent="-45720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tabLst/>
                        <a:defRPr/>
                      </a:pPr>
                      <a:endParaRPr lang="en-US" sz="2800" b="1" i="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800" b="1" i="0" dirty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--- These are just a few drawbacks, and for the price, compared to Flare, FrameMaker is still a worthwhile product</a:t>
                      </a:r>
                      <a:r>
                        <a:rPr lang="en-US" sz="2800" b="1" i="0">
                          <a:solidFill>
                            <a:srgbClr val="45494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                                                                                                                  5.7.25</a:t>
                      </a:r>
                      <a:endParaRPr lang="en-US" sz="2800" b="1" i="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marR="0" lvl="0" indent="-45720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tabLst/>
                        <a:defRPr/>
                      </a:pPr>
                      <a:endParaRPr lang="en-US" sz="2800" b="1" i="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7882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 dirty="0">
                        <a:solidFill>
                          <a:srgbClr val="45494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indent="0" algn="l"/>
                      <a:endParaRPr sz="3400" b="1" i="0" u="none" strike="noStrike" baseline="0" dirty="0">
                        <a:ln>
                          <a:noFill/>
                        </a:ln>
                        <a:solidFill>
                          <a:srgbClr val="45494C"/>
                        </a:solidFill>
                        <a:latin typeface="Arial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New Table">
            <a:extLst>
              <a:ext uri="{FF2B5EF4-FFF2-40B4-BE49-F238E27FC236}">
                <a16:creationId xmlns:a16="http://schemas.microsoft.com/office/drawing/2014/main" id="{2F2071B4-A75D-BDCA-C639-667F152957BD}"/>
              </a:ext>
            </a:extLst>
          </p:cNvPr>
          <p:cNvGraphicFramePr>
            <a:graphicFrameLocks noGrp="1"/>
          </p:cNvGraphicFramePr>
          <p:nvPr/>
        </p:nvGraphicFramePr>
        <p:xfrm>
          <a:off x="15145134" y="15887451"/>
          <a:ext cx="567008" cy="591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 indent="0" algn="r"/>
                      <a:r>
                        <a:rPr sz="2500" b="1" i="0" u="none" strike="noStrike" baseline="0" dirty="0">
                          <a:ln>
                            <a:noFill/>
                          </a:ln>
                          <a:solidFill>
                            <a:srgbClr val="A4AAAE"/>
                          </a:solidFill>
                          <a:latin typeface="Arial" pitchFamily="34" charset="0"/>
                        </a:rPr>
                        <a:t>7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489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7ED89-4AA4-E757-12F1-3CDD41E4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528" y="1256628"/>
            <a:ext cx="15020544" cy="10249572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solidFill>
                  <a:srgbClr val="076685"/>
                </a:solidFill>
                <a:latin typeface="Amasis MT Pro Black" panose="02040A04050005020304" pitchFamily="18" charset="0"/>
                <a:cs typeface="Arial" panose="020B0604020202020204" pitchFamily="34" charset="0"/>
              </a:rPr>
              <a:t>Thank You</a:t>
            </a:r>
            <a:r>
              <a:rPr lang="en-US" sz="3600" b="1" dirty="0">
                <a:solidFill>
                  <a:srgbClr val="076685"/>
                </a:solidFill>
                <a:latin typeface="Amasis MT Pro Black" panose="02040A04050005020304" pitchFamily="18" charset="0"/>
                <a:cs typeface="Arial" panose="020B0604020202020204" pitchFamily="34" charset="0"/>
              </a:rPr>
              <a:t>, </a:t>
            </a:r>
            <a:r>
              <a:rPr lang="en-US" sz="8000" b="1" i="0" dirty="0">
                <a:solidFill>
                  <a:srgbClr val="076685"/>
                </a:solidFill>
                <a:effectLst/>
                <a:latin typeface="Amasis MT Pro Black" panose="02040A04050005020304" pitchFamily="18" charset="0"/>
                <a:cs typeface="Arial" panose="020B0604020202020204" pitchFamily="34" charset="0"/>
              </a:rPr>
              <a:t>Zoë</a:t>
            </a:r>
            <a:r>
              <a:rPr lang="en-US" sz="3600" b="1" dirty="0">
                <a:solidFill>
                  <a:srgbClr val="076685"/>
                </a:solidFill>
                <a:latin typeface="Amasis MT Pro Black" panose="02040A04050005020304" pitchFamily="18" charset="0"/>
                <a:cs typeface="Arial" panose="020B0604020202020204" pitchFamily="34" charset="0"/>
              </a:rPr>
              <a:t> </a:t>
            </a:r>
            <a:r>
              <a:rPr lang="en-US" sz="8000" b="1" dirty="0">
                <a:solidFill>
                  <a:srgbClr val="076685"/>
                </a:solidFill>
                <a:latin typeface="Amasis MT Pro Black" panose="02040A04050005020304" pitchFamily="18" charset="0"/>
                <a:cs typeface="Arial" panose="020B0604020202020204" pitchFamily="34" charset="0"/>
              </a:rPr>
              <a:t>Lawson</a:t>
            </a:r>
            <a:b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sharing your knowledge, </a:t>
            </a:r>
            <a:br>
              <a:rPr lang="en-US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introducing us </a:t>
            </a:r>
            <a:br>
              <a:rPr lang="en-US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so many cool </a:t>
            </a:r>
            <a:br>
              <a:rPr lang="en-US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4549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writing authoring, language, standards and structured authoring methodologies tools! </a:t>
            </a:r>
          </a:p>
        </p:txBody>
      </p:sp>
    </p:spTree>
    <p:extLst>
      <p:ext uri="{BB962C8B-B14F-4D97-AF65-F5344CB8AC3E}">
        <p14:creationId xmlns:p14="http://schemas.microsoft.com/office/powerpoint/2010/main" val="38559900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26100.0"/>
  <p:tag name="AS_RELEASE_DATE" val="2018.09.12"/>
  <p:tag name="AS_TITLE" val="Aspose.Slides for .NET 4.0"/>
  <p:tag name="AS_VERSION" val="18.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1003</TotalTime>
  <Words>1300</Words>
  <Application>Microsoft Office PowerPoint</Application>
  <PresentationFormat>Custom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Abadi</vt:lpstr>
      <vt:lpstr>Amasis MT Pro Black</vt:lpstr>
      <vt:lpstr>Arial</vt:lpstr>
      <vt:lpstr>Garamond</vt:lpstr>
      <vt:lpstr>Google Sans</vt:lpstr>
      <vt:lpstr>roboto</vt:lpstr>
      <vt:lpstr>Wingdings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A product of Adobe.com: FrameMaker became an Adobe product in October 1995 when Adobe purchased Frame Technology Corp…30 years ago  -- Considered a “Market-leading solution for authoring and publishing technical documentation,” per adobe.com  -- Considered a step up from Microsoft Word authoring tool   -- "Chapter-based" authoring model, originally designed for creating books for print, not modular on-line topics, was not designed for Topic-based maximum content reuse   -- Can author in DITA and XML with FrameMaker; powerful features for managing complex documents; ability to handle large, multi-language projects; flexibly supports structured and unstructured content  -- Template-based for speed and consistency   -- Collaboration; some content re-use across documents (as in Flare)  -- Can publish in many formats and channels including Kindle, HTML5, PDF and more.     </vt:lpstr>
      <vt:lpstr>       Advantages of FrameMaker over Word &amp; MadCap Flare:  -- More powerful than Word; better handles large, complex, shared documents, complicated tables, numbering and figures and graphics (and costs 3.2x Word; $39.99 vs. $12.50/month)   -- Not as powerful as Flare, but costs 17% of what Flare costs per month per user, with annual subscriptions  -- FrameMaker time-saving features compared to Word: (saving time in authoring is saving money); to include ToC’s, cross-references, conditional and variable text, and multiple-document books, much of which Word cannot do well   ~~~~~~~~~~~~~~~ Adobe offers different plans, including options for individuals, teams, enterprises, and education.  Pricing detail: per month per user when billed annually: Adobe FrameMaker starts at $39.99, per adobe.com, compared to Flare at $234, per madcapsoftware.com; and Word at $12.50 (Microsoft 365 Business Standard with Word, Excel, PowerPoint), per microsoft.com.    </vt:lpstr>
      <vt:lpstr>PowerPoint Presentation</vt:lpstr>
      <vt:lpstr>PowerPoint Presentation</vt:lpstr>
      <vt:lpstr>Thank You, Zoë Lawson  for sharing your knowledge,  and introducing us  to so many cool  technical writing authoring, language, standards and structured authoring methodologies tools!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Favorite and Least Favorite Content Authoring Tools by Roberta Roffo</dc:title>
  <dc:subject/>
  <dc:creator/>
  <cp:keywords/>
  <dc:description/>
  <cp:lastModifiedBy>Roberta Roffo</cp:lastModifiedBy>
  <cp:revision>30</cp:revision>
  <cp:lastPrinted>2025-05-07T22:23:48Z</cp:lastPrinted>
  <dcterms:created xsi:type="dcterms:W3CDTF">2025-05-05T21:17:06Z</dcterms:created>
  <dcterms:modified xsi:type="dcterms:W3CDTF">2025-05-07T22:52:16Z</dcterms:modified>
  <cp:category/>
</cp:coreProperties>
</file>